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37160"/>
          </a:xfrm>
          <a:prstGeom prst="rect">
            <a:avLst/>
          </a:prstGeom>
          <a:solidFill>
            <a:srgbClr val="5B8DE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720840"/>
            <a:ext cx="12161520" cy="137160"/>
          </a:xfrm>
          <a:prstGeom prst="rect">
            <a:avLst/>
          </a:prstGeom>
          <a:solidFill>
            <a:srgbClr val="5B8DEF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731520"/>
            <a:ext cx="548640" cy="548640"/>
          </a:xfrm>
          <a:prstGeom prst="rect">
            <a:avLst/>
          </a:prstGeom>
          <a:solidFill>
            <a:srgbClr val="5B8DEF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7315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B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1188720" y="777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400" kern="0" dirty="0">
                <a:solidFill>
                  <a:srgbClr val="7F8694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BOSCH CCTV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188720" y="105156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52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Intelligent Video Analytics Platform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457200" y="2286000"/>
            <a:ext cx="112471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54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MQTT-Powered</a:t>
            </a:r>
            <a:endParaRPr lang="en-US" sz="5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54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Video Analytics Dashboard</a:t>
            </a:r>
            <a:endParaRPr lang="en-US" sz="5400" dirty="0"/>
          </a:p>
        </p:txBody>
      </p:sp>
      <p:sp>
        <p:nvSpPr>
          <p:cNvPr id="9" name="Text 7"/>
          <p:cNvSpPr/>
          <p:nvPr/>
        </p:nvSpPr>
        <p:spPr>
          <a:xfrm>
            <a:off x="457200" y="402336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spc="200" kern="0" dirty="0">
                <a:solidFill>
                  <a:srgbClr val="5B8DE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Real-time Event Monitoring · Smart Snapshots · Multi-Camera Analytics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457200" y="457200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7F86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จากกล้อง CCTV สู่ระบบวิเคราะห์อัจฉริยะ พร้อมรองรับ ONVIF Profile M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57200" y="5486400"/>
            <a:ext cx="2743200" cy="822960"/>
          </a:xfrm>
          <a:prstGeom prst="rect">
            <a:avLst/>
          </a:prstGeom>
          <a:solidFill>
            <a:srgbClr val="131826"/>
          </a:solidFill>
          <a:ln w="12700">
            <a:solidFill>
              <a:srgbClr val="232B3D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57200" y="5486400"/>
            <a:ext cx="54864" cy="822960"/>
          </a:xfrm>
          <a:prstGeom prst="rect">
            <a:avLst/>
          </a:prstGeom>
          <a:solidFill>
            <a:srgbClr val="5B8DEF"/>
          </a:solidFill>
          <a:ln/>
        </p:spPr>
      </p:sp>
      <p:sp>
        <p:nvSpPr>
          <p:cNvPr id="13" name="Text 11"/>
          <p:cNvSpPr/>
          <p:nvPr/>
        </p:nvSpPr>
        <p:spPr>
          <a:xfrm>
            <a:off x="640080" y="5532120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ONVIF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640080" y="594360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7F86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PROFILE M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3383280" y="5486400"/>
            <a:ext cx="2743200" cy="822960"/>
          </a:xfrm>
          <a:prstGeom prst="rect">
            <a:avLst/>
          </a:prstGeom>
          <a:solidFill>
            <a:srgbClr val="131826"/>
          </a:solidFill>
          <a:ln w="12700">
            <a:solidFill>
              <a:srgbClr val="232B3D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383280" y="5486400"/>
            <a:ext cx="54864" cy="822960"/>
          </a:xfrm>
          <a:prstGeom prst="rect">
            <a:avLst/>
          </a:prstGeom>
          <a:solidFill>
            <a:srgbClr val="5B8DEF"/>
          </a:solidFill>
          <a:ln/>
        </p:spPr>
      </p:sp>
      <p:sp>
        <p:nvSpPr>
          <p:cNvPr id="17" name="Text 15"/>
          <p:cNvSpPr/>
          <p:nvPr/>
        </p:nvSpPr>
        <p:spPr>
          <a:xfrm>
            <a:off x="3566160" y="5532120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MQTT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3566160" y="594360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7F86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REAL-TIME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6309360" y="5486400"/>
            <a:ext cx="2743200" cy="822960"/>
          </a:xfrm>
          <a:prstGeom prst="rect">
            <a:avLst/>
          </a:prstGeom>
          <a:solidFill>
            <a:srgbClr val="131826"/>
          </a:solidFill>
          <a:ln w="12700">
            <a:solidFill>
              <a:srgbClr val="232B3D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309360" y="5486400"/>
            <a:ext cx="54864" cy="822960"/>
          </a:xfrm>
          <a:prstGeom prst="rect">
            <a:avLst/>
          </a:prstGeom>
          <a:solidFill>
            <a:srgbClr val="5B8DEF"/>
          </a:solidFill>
          <a:ln/>
        </p:spPr>
      </p:sp>
      <p:sp>
        <p:nvSpPr>
          <p:cNvPr id="21" name="Text 19"/>
          <p:cNvSpPr/>
          <p:nvPr/>
        </p:nvSpPr>
        <p:spPr>
          <a:xfrm>
            <a:off x="6492240" y="5532120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200-3000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6492240" y="594360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7F86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CAMERAS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9235440" y="5486400"/>
            <a:ext cx="2743200" cy="822960"/>
          </a:xfrm>
          <a:prstGeom prst="rect">
            <a:avLst/>
          </a:prstGeom>
          <a:solidFill>
            <a:srgbClr val="131826"/>
          </a:solidFill>
          <a:ln w="12700">
            <a:solidFill>
              <a:srgbClr val="232B3D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9235440" y="5486400"/>
            <a:ext cx="54864" cy="822960"/>
          </a:xfrm>
          <a:prstGeom prst="rect">
            <a:avLst/>
          </a:prstGeom>
          <a:solidFill>
            <a:srgbClr val="5B8DEF"/>
          </a:solidFill>
          <a:ln/>
        </p:spPr>
      </p:sp>
      <p:sp>
        <p:nvSpPr>
          <p:cNvPr id="25" name="Text 23"/>
          <p:cNvSpPr/>
          <p:nvPr/>
        </p:nvSpPr>
        <p:spPr>
          <a:xfrm>
            <a:off x="9418320" y="5532120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24/7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9418320" y="594360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7F86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MONITORING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457200" y="644652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A52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VISION Office  •  May 2026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45720"/>
          </a:xfrm>
          <a:prstGeom prst="rect">
            <a:avLst/>
          </a:prstGeom>
          <a:solidFill>
            <a:srgbClr val="5B8DEF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11247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Executive Summary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57200" y="64008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7F86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ภาพรวมระบบและจุดเด่นสำคัญ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57200" y="960120"/>
            <a:ext cx="457200" cy="36576"/>
          </a:xfrm>
          <a:prstGeom prst="rect">
            <a:avLst/>
          </a:prstGeom>
          <a:solidFill>
            <a:srgbClr val="5B8DEF"/>
          </a:solidFill>
          <a:ln/>
        </p:spPr>
      </p:sp>
      <p:sp>
        <p:nvSpPr>
          <p:cNvPr id="6" name="Shape 4"/>
          <p:cNvSpPr/>
          <p:nvPr/>
        </p:nvSpPr>
        <p:spPr>
          <a:xfrm>
            <a:off x="457200" y="1280160"/>
            <a:ext cx="5486400" cy="1554480"/>
          </a:xfrm>
          <a:prstGeom prst="rect">
            <a:avLst/>
          </a:prstGeom>
          <a:solidFill>
            <a:srgbClr val="131826"/>
          </a:solidFill>
          <a:ln w="12700">
            <a:solidFill>
              <a:srgbClr val="232B3D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1280160"/>
            <a:ext cx="45720" cy="1554480"/>
          </a:xfrm>
          <a:prstGeom prst="rect">
            <a:avLst/>
          </a:prstGeom>
          <a:solidFill>
            <a:srgbClr val="5B8DEF"/>
          </a:solidFill>
          <a:ln/>
        </p:spPr>
      </p:sp>
      <p:sp>
        <p:nvSpPr>
          <p:cNvPr id="8" name="Shape 6"/>
          <p:cNvSpPr/>
          <p:nvPr/>
        </p:nvSpPr>
        <p:spPr>
          <a:xfrm>
            <a:off x="685800" y="1508760"/>
            <a:ext cx="640080" cy="640080"/>
          </a:xfrm>
          <a:prstGeom prst="rect">
            <a:avLst/>
          </a:prstGeom>
          <a:solidFill>
            <a:srgbClr val="5B8DEF"/>
          </a:solidFill>
          <a:ln/>
        </p:spPr>
      </p:sp>
      <p:sp>
        <p:nvSpPr>
          <p:cNvPr id="9" name="Text 7"/>
          <p:cNvSpPr/>
          <p:nvPr/>
        </p:nvSpPr>
        <p:spPr>
          <a:xfrm>
            <a:off x="685800" y="15087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01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463040" y="1463040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Real-time Event Stream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463040" y="1874520"/>
            <a:ext cx="4297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7F86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รับ events จาก Bosch cameras ผ่าน MQTT broker (ONVIF Profile M) แสดงผลแบบ real-time ผ่าน WebSocket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6217920" y="1280160"/>
            <a:ext cx="5486400" cy="1554480"/>
          </a:xfrm>
          <a:prstGeom prst="rect">
            <a:avLst/>
          </a:prstGeom>
          <a:solidFill>
            <a:srgbClr val="131826"/>
          </a:solidFill>
          <a:ln w="12700">
            <a:solidFill>
              <a:srgbClr val="232B3D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217920" y="1280160"/>
            <a:ext cx="45720" cy="1554480"/>
          </a:xfrm>
          <a:prstGeom prst="rect">
            <a:avLst/>
          </a:prstGeom>
          <a:solidFill>
            <a:srgbClr val="22C55E"/>
          </a:solidFill>
          <a:ln/>
        </p:spPr>
      </p:sp>
      <p:sp>
        <p:nvSpPr>
          <p:cNvPr id="14" name="Shape 12"/>
          <p:cNvSpPr/>
          <p:nvPr/>
        </p:nvSpPr>
        <p:spPr>
          <a:xfrm>
            <a:off x="6446520" y="1508760"/>
            <a:ext cx="640080" cy="640080"/>
          </a:xfrm>
          <a:prstGeom prst="rect">
            <a:avLst/>
          </a:prstGeom>
          <a:solidFill>
            <a:srgbClr val="22C55E"/>
          </a:solidFill>
          <a:ln/>
        </p:spPr>
      </p:sp>
      <p:sp>
        <p:nvSpPr>
          <p:cNvPr id="15" name="Text 13"/>
          <p:cNvSpPr/>
          <p:nvPr/>
        </p:nvSpPr>
        <p:spPr>
          <a:xfrm>
            <a:off x="6446520" y="15087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02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7223760" y="1463040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Intelligent Snapshot Capture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7223760" y="1874520"/>
            <a:ext cx="4297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7F86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ดึง snapshot ทั้งจาก MQTT base64 (เร็ว) และ HTTP fallback (ทุก firmware) — ครอบคลุมกล้องหลายรุ่น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57200" y="2971800"/>
            <a:ext cx="5486400" cy="1554480"/>
          </a:xfrm>
          <a:prstGeom prst="rect">
            <a:avLst/>
          </a:prstGeom>
          <a:solidFill>
            <a:srgbClr val="131826"/>
          </a:solidFill>
          <a:ln w="12700">
            <a:solidFill>
              <a:srgbClr val="232B3D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57200" y="2971800"/>
            <a:ext cx="45720" cy="155448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20" name="Shape 18"/>
          <p:cNvSpPr/>
          <p:nvPr/>
        </p:nvSpPr>
        <p:spPr>
          <a:xfrm>
            <a:off x="685800" y="3200400"/>
            <a:ext cx="640080" cy="64008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21" name="Text 19"/>
          <p:cNvSpPr/>
          <p:nvPr/>
        </p:nvSpPr>
        <p:spPr>
          <a:xfrm>
            <a:off x="685800" y="32004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03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1463040" y="3154680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Multi-View Dashboard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1463040" y="3566160"/>
            <a:ext cx="4297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7F86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หน้าหลัก: Live Status, Events, Snapshots, Map (heatmap), Statistics, Reports — ใช้งานได้ครบในระบบเดียว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6217920" y="2971800"/>
            <a:ext cx="5486400" cy="1554480"/>
          </a:xfrm>
          <a:prstGeom prst="rect">
            <a:avLst/>
          </a:prstGeom>
          <a:solidFill>
            <a:srgbClr val="131826"/>
          </a:solidFill>
          <a:ln w="12700">
            <a:solidFill>
              <a:srgbClr val="232B3D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217920" y="2971800"/>
            <a:ext cx="45720" cy="1554480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26" name="Shape 24"/>
          <p:cNvSpPr/>
          <p:nvPr/>
        </p:nvSpPr>
        <p:spPr>
          <a:xfrm>
            <a:off x="6446520" y="3200400"/>
            <a:ext cx="640080" cy="640080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27" name="Text 25"/>
          <p:cNvSpPr/>
          <p:nvPr/>
        </p:nvSpPr>
        <p:spPr>
          <a:xfrm>
            <a:off x="6446520" y="32004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04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7223760" y="3154680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Camera Grouping &amp; Filtering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7223760" y="3566160"/>
            <a:ext cx="4297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7F86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จัดกลุ่มกล้องตามโซน/ชั้น/อาคาร — กรองข้อมูลทุกหน้าตามกลุ่มได้ทันที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457200" y="4663440"/>
            <a:ext cx="5486400" cy="1554480"/>
          </a:xfrm>
          <a:prstGeom prst="rect">
            <a:avLst/>
          </a:prstGeom>
          <a:solidFill>
            <a:srgbClr val="131826"/>
          </a:solidFill>
          <a:ln w="12700">
            <a:solidFill>
              <a:srgbClr val="232B3D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457200" y="4663440"/>
            <a:ext cx="45720" cy="1554480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32" name="Shape 30"/>
          <p:cNvSpPr/>
          <p:nvPr/>
        </p:nvSpPr>
        <p:spPr>
          <a:xfrm>
            <a:off x="685800" y="4892040"/>
            <a:ext cx="640080" cy="640080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33" name="Text 31"/>
          <p:cNvSpPr/>
          <p:nvPr/>
        </p:nvSpPr>
        <p:spPr>
          <a:xfrm>
            <a:off x="685800" y="48920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05</a:t>
            </a:r>
            <a:endParaRPr lang="en-US" sz="1800" dirty="0"/>
          </a:p>
        </p:txBody>
      </p:sp>
      <p:sp>
        <p:nvSpPr>
          <p:cNvPr id="34" name="Text 32"/>
          <p:cNvSpPr/>
          <p:nvPr/>
        </p:nvSpPr>
        <p:spPr>
          <a:xfrm>
            <a:off x="1463040" y="4846320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Scalable Architecture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1463040" y="5257800"/>
            <a:ext cx="4297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7F86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รองรับตั้งแต่ 200 จนถึง 3,000+ cameras ผ่าน horizontal scaling + microservices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6217920" y="4663440"/>
            <a:ext cx="5486400" cy="1554480"/>
          </a:xfrm>
          <a:prstGeom prst="rect">
            <a:avLst/>
          </a:prstGeom>
          <a:solidFill>
            <a:srgbClr val="131826"/>
          </a:solidFill>
          <a:ln w="12700">
            <a:solidFill>
              <a:srgbClr val="232B3D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6217920" y="4663440"/>
            <a:ext cx="45720" cy="1554480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38" name="Shape 36"/>
          <p:cNvSpPr/>
          <p:nvPr/>
        </p:nvSpPr>
        <p:spPr>
          <a:xfrm>
            <a:off x="6446520" y="4892040"/>
            <a:ext cx="640080" cy="640080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39" name="Text 37"/>
          <p:cNvSpPr/>
          <p:nvPr/>
        </p:nvSpPr>
        <p:spPr>
          <a:xfrm>
            <a:off x="6446520" y="48920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06</a:t>
            </a:r>
            <a:endParaRPr lang="en-US" sz="1800" dirty="0"/>
          </a:p>
        </p:txBody>
      </p:sp>
      <p:sp>
        <p:nvSpPr>
          <p:cNvPr id="40" name="Text 38"/>
          <p:cNvSpPr/>
          <p:nvPr/>
        </p:nvSpPr>
        <p:spPr>
          <a:xfrm>
            <a:off x="7223760" y="4846320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Production Ready</a:t>
            </a:r>
            <a:endParaRPr lang="en-US" sz="1400" dirty="0"/>
          </a:p>
        </p:txBody>
      </p:sp>
      <p:sp>
        <p:nvSpPr>
          <p:cNvPr id="41" name="Text 39"/>
          <p:cNvSpPr/>
          <p:nvPr/>
        </p:nvSpPr>
        <p:spPr>
          <a:xfrm>
            <a:off x="7223760" y="5257800"/>
            <a:ext cx="4297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7F86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UTC timezone enforcement, DB bloat protection, auto-reload config, graceful error handling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457200" y="653796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52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Bosch CCTV MQTT Dashboard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11430000" y="653796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A52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457200" y="6492240"/>
            <a:ext cx="11247120" cy="0"/>
          </a:xfrm>
          <a:prstGeom prst="line">
            <a:avLst/>
          </a:prstGeom>
          <a:noFill/>
          <a:ln w="6350">
            <a:solidFill>
              <a:srgbClr val="232B3D"/>
            </a:solidFill>
            <a:prstDash val="solid"/>
          </a:ln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45720"/>
          </a:xfrm>
          <a:prstGeom prst="rect">
            <a:avLst/>
          </a:prstGeom>
          <a:solidFill>
            <a:srgbClr val="5B8DEF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11247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System Architecture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57200" y="64008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7F86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End-to-end data flow ตั้งแต่กล้องถึง Dashboard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57200" y="960120"/>
            <a:ext cx="457200" cy="36576"/>
          </a:xfrm>
          <a:prstGeom prst="rect">
            <a:avLst/>
          </a:prstGeom>
          <a:solidFill>
            <a:srgbClr val="5B8DEF"/>
          </a:solidFill>
          <a:ln/>
        </p:spPr>
      </p:sp>
      <p:sp>
        <p:nvSpPr>
          <p:cNvPr id="6" name="Text 4"/>
          <p:cNvSpPr/>
          <p:nvPr/>
        </p:nvSpPr>
        <p:spPr>
          <a:xfrm>
            <a:off x="274320" y="1097280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4A5263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EDGE LAYER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274320" y="2651760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4A5263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MESSAGING LAYER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274320" y="4206240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4A5263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PROCESSING LAYER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274320" y="5486400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4A5263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PRESENTATION LAYER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1554480" y="1371600"/>
            <a:ext cx="2103120" cy="777240"/>
          </a:xfrm>
          <a:prstGeom prst="rect">
            <a:avLst/>
          </a:prstGeom>
          <a:solidFill>
            <a:srgbClr val="131826"/>
          </a:solidFill>
          <a:ln w="25400">
            <a:solidFill>
              <a:srgbClr val="5B8DE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554480" y="1371600"/>
            <a:ext cx="2103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4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📷 Bosch Camera 1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E4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FLEXIDOME / FLEXIDOME IP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023360" y="1371600"/>
            <a:ext cx="2103120" cy="777240"/>
          </a:xfrm>
          <a:prstGeom prst="rect">
            <a:avLst/>
          </a:prstGeom>
          <a:solidFill>
            <a:srgbClr val="131826"/>
          </a:solidFill>
          <a:ln w="25400">
            <a:solidFill>
              <a:srgbClr val="5B8DE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023360" y="1371600"/>
            <a:ext cx="2103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4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📷 Bosch Camera 2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E4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FLEXIDOME / FLEXIDOME IP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492240" y="1371600"/>
            <a:ext cx="2103120" cy="777240"/>
          </a:xfrm>
          <a:prstGeom prst="rect">
            <a:avLst/>
          </a:prstGeom>
          <a:solidFill>
            <a:srgbClr val="131826"/>
          </a:solidFill>
          <a:ln w="25400">
            <a:solidFill>
              <a:srgbClr val="5B8DE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92240" y="1371600"/>
            <a:ext cx="2103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4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📷 Bosch Camera 3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E4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FLEXIDOME / FLEXIDOME IP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8961120" y="1371600"/>
            <a:ext cx="2103120" cy="777240"/>
          </a:xfrm>
          <a:prstGeom prst="rect">
            <a:avLst/>
          </a:prstGeom>
          <a:solidFill>
            <a:srgbClr val="131826"/>
          </a:solidFill>
          <a:ln w="25400">
            <a:solidFill>
              <a:srgbClr val="5B8DE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961120" y="1371600"/>
            <a:ext cx="2103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4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📷 Bosch Camera 4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E4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FLEXIDOME / FLEXIDOME IP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2606040" y="2194560"/>
            <a:ext cx="3474720" cy="685800"/>
          </a:xfrm>
          <a:prstGeom prst="line">
            <a:avLst/>
          </a:prstGeom>
          <a:noFill/>
          <a:ln w="25400">
            <a:solidFill>
              <a:srgbClr val="F59E0B"/>
            </a:solidFill>
            <a:prstDash val="solid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5074920" y="2194560"/>
            <a:ext cx="1005840" cy="685800"/>
          </a:xfrm>
          <a:prstGeom prst="line">
            <a:avLst/>
          </a:prstGeom>
          <a:noFill/>
          <a:ln w="25400">
            <a:solidFill>
              <a:srgbClr val="F59E0B"/>
            </a:solidFill>
            <a:prstDash val="solid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7543800" y="2194560"/>
            <a:ext cx="-1463040" cy="685800"/>
          </a:xfrm>
          <a:prstGeom prst="line">
            <a:avLst/>
          </a:prstGeom>
          <a:noFill/>
          <a:ln w="25400">
            <a:solidFill>
              <a:srgbClr val="F59E0B"/>
            </a:solidFill>
            <a:prstDash val="solid"/>
            <a:tailEnd type="triangle"/>
          </a:ln>
        </p:spPr>
      </p:sp>
      <p:sp>
        <p:nvSpPr>
          <p:cNvPr id="21" name="Shape 19"/>
          <p:cNvSpPr/>
          <p:nvPr/>
        </p:nvSpPr>
        <p:spPr>
          <a:xfrm>
            <a:off x="10012680" y="2194560"/>
            <a:ext cx="-3931920" cy="685800"/>
          </a:xfrm>
          <a:prstGeom prst="line">
            <a:avLst/>
          </a:prstGeom>
          <a:noFill/>
          <a:ln w="25400">
            <a:solidFill>
              <a:srgbClr val="F59E0B"/>
            </a:solidFill>
            <a:prstDash val="solid"/>
            <a:tailEnd type="triangle"/>
          </a:ln>
        </p:spPr>
      </p:sp>
      <p:sp>
        <p:nvSpPr>
          <p:cNvPr id="22" name="Shape 20"/>
          <p:cNvSpPr/>
          <p:nvPr/>
        </p:nvSpPr>
        <p:spPr>
          <a:xfrm>
            <a:off x="4114800" y="2880360"/>
            <a:ext cx="3931920" cy="777240"/>
          </a:xfrm>
          <a:prstGeom prst="rect">
            <a:avLst/>
          </a:prstGeom>
          <a:solidFill>
            <a:srgbClr val="131826"/>
          </a:solidFill>
          <a:ln w="25400">
            <a:solidFill>
              <a:srgbClr val="F59E0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114800" y="292608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⚡ MQTT Broker (Mosquitto)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4114800" y="324612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7F86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ONVIF Profile M  •  QoS 0  •  Topic: &lt;CamId&gt;/onvif-ej/#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6080760" y="3703320"/>
            <a:ext cx="0" cy="731520"/>
          </a:xfrm>
          <a:prstGeom prst="line">
            <a:avLst/>
          </a:prstGeom>
          <a:noFill/>
          <a:ln w="25400">
            <a:solidFill>
              <a:srgbClr val="22C55E"/>
            </a:solidFill>
            <a:prstDash val="solid"/>
            <a:tailEnd type="triangle"/>
          </a:ln>
        </p:spPr>
      </p:sp>
      <p:sp>
        <p:nvSpPr>
          <p:cNvPr id="26" name="Shape 24"/>
          <p:cNvSpPr/>
          <p:nvPr/>
        </p:nvSpPr>
        <p:spPr>
          <a:xfrm>
            <a:off x="457200" y="4434840"/>
            <a:ext cx="3017520" cy="914400"/>
          </a:xfrm>
          <a:prstGeom prst="rect">
            <a:avLst/>
          </a:prstGeom>
          <a:solidFill>
            <a:srgbClr val="131826"/>
          </a:solidFill>
          <a:ln w="25400">
            <a:solidFill>
              <a:srgbClr val="22C55E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57200" y="448056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🔌 MQTT Subscriber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457200" y="4800600"/>
            <a:ext cx="301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7F86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Parse events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7F86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Snapshot capture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7F86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Filter &amp; enrich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4572000" y="4434840"/>
            <a:ext cx="3017520" cy="914400"/>
          </a:xfrm>
          <a:prstGeom prst="rect">
            <a:avLst/>
          </a:prstGeom>
          <a:solidFill>
            <a:srgbClr val="131826"/>
          </a:solidFill>
          <a:ln w="25400">
            <a:solidFill>
              <a:srgbClr val="06B6D4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572000" y="448056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🗄 PostgreSQL 16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4572000" y="4800600"/>
            <a:ext cx="301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7F86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Time-series events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7F86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UTC enforced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7F86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Indexed queries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8686800" y="4434840"/>
            <a:ext cx="3017520" cy="914400"/>
          </a:xfrm>
          <a:prstGeom prst="rect">
            <a:avLst/>
          </a:prstGeom>
          <a:solidFill>
            <a:srgbClr val="131826"/>
          </a:solidFill>
          <a:ln w="25400">
            <a:solidFill>
              <a:srgbClr val="A78BFA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8686800" y="448056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🌐 API + WebSocket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8686800" y="4800600"/>
            <a:ext cx="301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7F86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REST endpoints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7F86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Real-time push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7F86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 snapshots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3474720" y="4892040"/>
            <a:ext cx="1097280" cy="0"/>
          </a:xfrm>
          <a:prstGeom prst="line">
            <a:avLst/>
          </a:prstGeom>
          <a:noFill/>
          <a:ln w="25400">
            <a:solidFill>
              <a:srgbClr val="06B6D4"/>
            </a:solidFill>
            <a:prstDash val="solid"/>
            <a:tailEnd type="triangle"/>
          </a:ln>
        </p:spPr>
      </p:sp>
      <p:sp>
        <p:nvSpPr>
          <p:cNvPr id="36" name="Shape 34"/>
          <p:cNvSpPr/>
          <p:nvPr/>
        </p:nvSpPr>
        <p:spPr>
          <a:xfrm>
            <a:off x="7589520" y="4892040"/>
            <a:ext cx="1097280" cy="0"/>
          </a:xfrm>
          <a:prstGeom prst="line">
            <a:avLst/>
          </a:prstGeom>
          <a:noFill/>
          <a:ln w="25400">
            <a:solidFill>
              <a:srgbClr val="A78BFA"/>
            </a:solidFill>
            <a:prstDash val="solid"/>
            <a:tailEnd type="triangle"/>
          </a:ln>
        </p:spPr>
      </p:sp>
      <p:sp>
        <p:nvSpPr>
          <p:cNvPr id="37" name="Shape 35"/>
          <p:cNvSpPr/>
          <p:nvPr/>
        </p:nvSpPr>
        <p:spPr>
          <a:xfrm>
            <a:off x="10195560" y="5349240"/>
            <a:ext cx="0" cy="411480"/>
          </a:xfrm>
          <a:prstGeom prst="line">
            <a:avLst/>
          </a:prstGeom>
          <a:noFill/>
          <a:ln w="25400">
            <a:solidFill>
              <a:srgbClr val="5B8DEF"/>
            </a:solidFill>
            <a:prstDash val="solid"/>
            <a:tailEnd type="triangle"/>
          </a:ln>
        </p:spPr>
      </p:sp>
      <p:sp>
        <p:nvSpPr>
          <p:cNvPr id="38" name="Shape 36"/>
          <p:cNvSpPr/>
          <p:nvPr/>
        </p:nvSpPr>
        <p:spPr>
          <a:xfrm>
            <a:off x="4114800" y="5760720"/>
            <a:ext cx="3931920" cy="640080"/>
          </a:xfrm>
          <a:prstGeom prst="rect">
            <a:avLst/>
          </a:prstGeom>
          <a:solidFill>
            <a:srgbClr val="5B8DEF"/>
          </a:solidFill>
          <a:ln/>
        </p:spPr>
      </p:sp>
      <p:sp>
        <p:nvSpPr>
          <p:cNvPr id="39" name="Text 37"/>
          <p:cNvSpPr/>
          <p:nvPr/>
        </p:nvSpPr>
        <p:spPr>
          <a:xfrm>
            <a:off x="4114800" y="5760720"/>
            <a:ext cx="3931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🖥 Web Dashboard (React/Vanilla JS)</a:t>
            </a:r>
            <a:endParaRPr lang="en-US" sz="1300" dirty="0"/>
          </a:p>
        </p:txBody>
      </p:sp>
      <p:sp>
        <p:nvSpPr>
          <p:cNvPr id="40" name="Shape 38"/>
          <p:cNvSpPr/>
          <p:nvPr/>
        </p:nvSpPr>
        <p:spPr>
          <a:xfrm>
            <a:off x="10195560" y="6080760"/>
            <a:ext cx="-2148840" cy="0"/>
          </a:xfrm>
          <a:prstGeom prst="line">
            <a:avLst/>
          </a:prstGeom>
          <a:noFill/>
          <a:ln w="25400">
            <a:solidFill>
              <a:srgbClr val="5B8DEF"/>
            </a:solidFill>
            <a:prstDash val="solid"/>
            <a:tailEnd type="triangle"/>
          </a:ln>
        </p:spPr>
      </p:sp>
      <p:sp>
        <p:nvSpPr>
          <p:cNvPr id="41" name="Shape 39"/>
          <p:cNvSpPr/>
          <p:nvPr/>
        </p:nvSpPr>
        <p:spPr>
          <a:xfrm>
            <a:off x="457200" y="5760720"/>
            <a:ext cx="3017520" cy="640080"/>
          </a:xfrm>
          <a:prstGeom prst="rect">
            <a:avLst/>
          </a:prstGeom>
          <a:solidFill>
            <a:srgbClr val="1A2030"/>
          </a:solidFill>
          <a:ln w="12700">
            <a:solidFill>
              <a:srgbClr val="F59E0B"/>
            </a:solidFill>
            <a:prstDash val="dash"/>
          </a:ln>
        </p:spPr>
      </p:sp>
      <p:sp>
        <p:nvSpPr>
          <p:cNvPr id="42" name="Text 40"/>
          <p:cNvSpPr/>
          <p:nvPr/>
        </p:nvSpPr>
        <p:spPr>
          <a:xfrm>
            <a:off x="457200" y="5760720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📸 Snapshot Storage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(NVMe / S3 / MinIO)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1965960" y="5760720"/>
            <a:ext cx="0" cy="-411480"/>
          </a:xfrm>
          <a:prstGeom prst="line">
            <a:avLst/>
          </a:prstGeom>
          <a:noFill/>
          <a:ln w="12700">
            <a:solidFill>
              <a:srgbClr val="F59E0B"/>
            </a:solidFill>
            <a:prstDash val="dash"/>
          </a:ln>
        </p:spPr>
      </p:sp>
      <p:sp>
        <p:nvSpPr>
          <p:cNvPr id="44" name="Text 42"/>
          <p:cNvSpPr/>
          <p:nvPr/>
        </p:nvSpPr>
        <p:spPr>
          <a:xfrm>
            <a:off x="457200" y="653796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52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Bosch CCTV MQTT Dashboard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11430000" y="653796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A52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900" dirty="0"/>
          </a:p>
        </p:txBody>
      </p:sp>
      <p:sp>
        <p:nvSpPr>
          <p:cNvPr id="46" name="Shape 44"/>
          <p:cNvSpPr/>
          <p:nvPr/>
        </p:nvSpPr>
        <p:spPr>
          <a:xfrm>
            <a:off x="457200" y="6492240"/>
            <a:ext cx="11247120" cy="0"/>
          </a:xfrm>
          <a:prstGeom prst="line">
            <a:avLst/>
          </a:prstGeom>
          <a:noFill/>
          <a:ln w="6350">
            <a:solidFill>
              <a:srgbClr val="232B3D"/>
            </a:solidFill>
            <a:prstDash val="solid"/>
          </a:ln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45720"/>
          </a:xfrm>
          <a:prstGeom prst="rect">
            <a:avLst/>
          </a:prstGeom>
          <a:solidFill>
            <a:srgbClr val="5B8DEF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11247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Data Flow &amp; Workflow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57200" y="64008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7F86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ขั้นตอนการประมวลผลตั้งแต่ event เกิดถึงแสดงผล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57200" y="960120"/>
            <a:ext cx="457200" cy="36576"/>
          </a:xfrm>
          <a:prstGeom prst="rect">
            <a:avLst/>
          </a:prstGeom>
          <a:solidFill>
            <a:srgbClr val="5B8DEF"/>
          </a:solidFill>
          <a:ln/>
        </p:spPr>
      </p:sp>
      <p:sp>
        <p:nvSpPr>
          <p:cNvPr id="6" name="Shape 4"/>
          <p:cNvSpPr/>
          <p:nvPr/>
        </p:nvSpPr>
        <p:spPr>
          <a:xfrm>
            <a:off x="457200" y="1371600"/>
            <a:ext cx="2697480" cy="2194560"/>
          </a:xfrm>
          <a:prstGeom prst="rect">
            <a:avLst/>
          </a:prstGeom>
          <a:solidFill>
            <a:srgbClr val="131826"/>
          </a:solidFill>
          <a:ln w="12700">
            <a:solidFill>
              <a:srgbClr val="232B3D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1371600"/>
            <a:ext cx="45720" cy="2194560"/>
          </a:xfrm>
          <a:prstGeom prst="rect">
            <a:avLst/>
          </a:prstGeom>
          <a:solidFill>
            <a:srgbClr val="5B8DEF"/>
          </a:solidFill>
          <a:ln/>
        </p:spPr>
      </p:sp>
      <p:sp>
        <p:nvSpPr>
          <p:cNvPr id="8" name="Shape 6"/>
          <p:cNvSpPr/>
          <p:nvPr/>
        </p:nvSpPr>
        <p:spPr>
          <a:xfrm>
            <a:off x="685800" y="1600200"/>
            <a:ext cx="548640" cy="548640"/>
          </a:xfrm>
          <a:prstGeom prst="ellipse">
            <a:avLst/>
          </a:prstGeom>
          <a:solidFill>
            <a:srgbClr val="5B8DEF"/>
          </a:solidFill>
          <a:ln/>
        </p:spPr>
      </p:sp>
      <p:sp>
        <p:nvSpPr>
          <p:cNvPr id="9" name="Text 7"/>
          <p:cNvSpPr/>
          <p:nvPr/>
        </p:nvSpPr>
        <p:spPr>
          <a:xfrm>
            <a:off x="685800" y="16002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1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2240280" y="1645920"/>
            <a:ext cx="777240" cy="365760"/>
          </a:xfrm>
          <a:prstGeom prst="rect">
            <a:avLst/>
          </a:prstGeom>
          <a:solidFill>
            <a:srgbClr val="1A2030"/>
          </a:solidFill>
          <a:ln w="12700">
            <a:solidFill>
              <a:srgbClr val="5B8DE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240280" y="1645920"/>
            <a:ext cx="777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5B8DE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~50ms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685800" y="228600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Event Detection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85800" y="2651760"/>
            <a:ext cx="2377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7F86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VCA rule trigger ในกล้อง (Crossing line / Object inside / Loitering)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3337560" y="1371600"/>
            <a:ext cx="2697480" cy="2194560"/>
          </a:xfrm>
          <a:prstGeom prst="rect">
            <a:avLst/>
          </a:prstGeom>
          <a:solidFill>
            <a:srgbClr val="131826"/>
          </a:solidFill>
          <a:ln w="12700">
            <a:solidFill>
              <a:srgbClr val="232B3D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337560" y="1371600"/>
            <a:ext cx="45720" cy="219456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6" name="Shape 14"/>
          <p:cNvSpPr/>
          <p:nvPr/>
        </p:nvSpPr>
        <p:spPr>
          <a:xfrm>
            <a:off x="3566160" y="1600200"/>
            <a:ext cx="548640" cy="548640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17" name="Text 15"/>
          <p:cNvSpPr/>
          <p:nvPr/>
        </p:nvSpPr>
        <p:spPr>
          <a:xfrm>
            <a:off x="3566160" y="16002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2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5120640" y="1645920"/>
            <a:ext cx="777240" cy="365760"/>
          </a:xfrm>
          <a:prstGeom prst="rect">
            <a:avLst/>
          </a:prstGeom>
          <a:solidFill>
            <a:srgbClr val="1A2030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120640" y="1645920"/>
            <a:ext cx="777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59E0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&lt;10ms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3566160" y="228600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MQTT Publish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3566160" y="2651760"/>
            <a:ext cx="2377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7F86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กล้องส่ง JSON event ไปที่ MQTT broker topic &lt;CamId&gt;/onvif-ej/RuleEngine/#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6217920" y="1371600"/>
            <a:ext cx="2697480" cy="2194560"/>
          </a:xfrm>
          <a:prstGeom prst="rect">
            <a:avLst/>
          </a:prstGeom>
          <a:solidFill>
            <a:srgbClr val="131826"/>
          </a:solidFill>
          <a:ln w="12700">
            <a:solidFill>
              <a:srgbClr val="232B3D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217920" y="1371600"/>
            <a:ext cx="45720" cy="2194560"/>
          </a:xfrm>
          <a:prstGeom prst="rect">
            <a:avLst/>
          </a:prstGeom>
          <a:solidFill>
            <a:srgbClr val="22C55E"/>
          </a:solidFill>
          <a:ln/>
        </p:spPr>
      </p:sp>
      <p:sp>
        <p:nvSpPr>
          <p:cNvPr id="24" name="Shape 22"/>
          <p:cNvSpPr/>
          <p:nvPr/>
        </p:nvSpPr>
        <p:spPr>
          <a:xfrm>
            <a:off x="6446520" y="1600200"/>
            <a:ext cx="548640" cy="548640"/>
          </a:xfrm>
          <a:prstGeom prst="ellipse">
            <a:avLst/>
          </a:prstGeom>
          <a:solidFill>
            <a:srgbClr val="22C55E"/>
          </a:solidFill>
          <a:ln/>
        </p:spPr>
      </p:sp>
      <p:sp>
        <p:nvSpPr>
          <p:cNvPr id="25" name="Text 23"/>
          <p:cNvSpPr/>
          <p:nvPr/>
        </p:nvSpPr>
        <p:spPr>
          <a:xfrm>
            <a:off x="6446520" y="16002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3</a:t>
            </a:r>
            <a:endParaRPr lang="en-US" sz="1800" dirty="0"/>
          </a:p>
        </p:txBody>
      </p:sp>
      <p:sp>
        <p:nvSpPr>
          <p:cNvPr id="26" name="Shape 24"/>
          <p:cNvSpPr/>
          <p:nvPr/>
        </p:nvSpPr>
        <p:spPr>
          <a:xfrm>
            <a:off x="8001000" y="1645920"/>
            <a:ext cx="777240" cy="365760"/>
          </a:xfrm>
          <a:prstGeom prst="rect">
            <a:avLst/>
          </a:prstGeom>
          <a:solidFill>
            <a:srgbClr val="1A2030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001000" y="1645920"/>
            <a:ext cx="777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2C55E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~5ms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6446520" y="228600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Subscribe &amp; Parse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6446520" y="2651760"/>
            <a:ext cx="2377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7F86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Subscriber รับ message → parse fields → check filter (ignore MotionAlarm)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9098280" y="1371600"/>
            <a:ext cx="2697480" cy="2194560"/>
          </a:xfrm>
          <a:prstGeom prst="rect">
            <a:avLst/>
          </a:prstGeom>
          <a:solidFill>
            <a:srgbClr val="131826"/>
          </a:solidFill>
          <a:ln w="12700">
            <a:solidFill>
              <a:srgbClr val="232B3D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9098280" y="1371600"/>
            <a:ext cx="45720" cy="2194560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32" name="Shape 30"/>
          <p:cNvSpPr/>
          <p:nvPr/>
        </p:nvSpPr>
        <p:spPr>
          <a:xfrm>
            <a:off x="9326880" y="1600200"/>
            <a:ext cx="548640" cy="548640"/>
          </a:xfrm>
          <a:prstGeom prst="ellipse">
            <a:avLst/>
          </a:prstGeom>
          <a:solidFill>
            <a:srgbClr val="06B6D4"/>
          </a:solidFill>
          <a:ln/>
        </p:spPr>
      </p:sp>
      <p:sp>
        <p:nvSpPr>
          <p:cNvPr id="33" name="Text 31"/>
          <p:cNvSpPr/>
          <p:nvPr/>
        </p:nvSpPr>
        <p:spPr>
          <a:xfrm>
            <a:off x="9326880" y="16002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4</a:t>
            </a:r>
            <a:endParaRPr lang="en-US" sz="1800" dirty="0"/>
          </a:p>
        </p:txBody>
      </p:sp>
      <p:sp>
        <p:nvSpPr>
          <p:cNvPr id="34" name="Shape 32"/>
          <p:cNvSpPr/>
          <p:nvPr/>
        </p:nvSpPr>
        <p:spPr>
          <a:xfrm>
            <a:off x="10881360" y="1645920"/>
            <a:ext cx="777240" cy="365760"/>
          </a:xfrm>
          <a:prstGeom prst="rect">
            <a:avLst/>
          </a:prstGeom>
          <a:solidFill>
            <a:srgbClr val="1A2030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10881360" y="1645920"/>
            <a:ext cx="777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6B6D4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100-300ms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9326880" y="228600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Snapshot Capture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9326880" y="2651760"/>
            <a:ext cx="2377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7F86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ดึง base64 จาก payload (ถ้ามี) หรือ HTTP /snap.jpg พร้อม Basic Auth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457200" y="3749040"/>
            <a:ext cx="2697480" cy="2194560"/>
          </a:xfrm>
          <a:prstGeom prst="rect">
            <a:avLst/>
          </a:prstGeom>
          <a:solidFill>
            <a:srgbClr val="131826"/>
          </a:solidFill>
          <a:ln w="12700">
            <a:solidFill>
              <a:srgbClr val="232B3D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457200" y="3749040"/>
            <a:ext cx="45720" cy="2194560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40" name="Shape 38"/>
          <p:cNvSpPr/>
          <p:nvPr/>
        </p:nvSpPr>
        <p:spPr>
          <a:xfrm>
            <a:off x="685800" y="3977640"/>
            <a:ext cx="548640" cy="548640"/>
          </a:xfrm>
          <a:prstGeom prst="ellipse">
            <a:avLst/>
          </a:prstGeom>
          <a:solidFill>
            <a:srgbClr val="A78BFA"/>
          </a:solidFill>
          <a:ln/>
        </p:spPr>
      </p:sp>
      <p:sp>
        <p:nvSpPr>
          <p:cNvPr id="41" name="Text 39"/>
          <p:cNvSpPr/>
          <p:nvPr/>
        </p:nvSpPr>
        <p:spPr>
          <a:xfrm>
            <a:off x="685800" y="39776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5</a:t>
            </a:r>
            <a:endParaRPr lang="en-US" sz="1800" dirty="0"/>
          </a:p>
        </p:txBody>
      </p:sp>
      <p:sp>
        <p:nvSpPr>
          <p:cNvPr id="42" name="Shape 40"/>
          <p:cNvSpPr/>
          <p:nvPr/>
        </p:nvSpPr>
        <p:spPr>
          <a:xfrm>
            <a:off x="2240280" y="4023360"/>
            <a:ext cx="777240" cy="365760"/>
          </a:xfrm>
          <a:prstGeom prst="rect">
            <a:avLst/>
          </a:prstGeom>
          <a:solidFill>
            <a:srgbClr val="1A2030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2240280" y="4023360"/>
            <a:ext cx="777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A78BF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~20ms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685800" y="466344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DB Insert + Strip</a:t>
            </a:r>
            <a:endParaRPr lang="en-US" sz="1300" dirty="0"/>
          </a:p>
        </p:txBody>
      </p:sp>
      <p:sp>
        <p:nvSpPr>
          <p:cNvPr id="45" name="Text 43"/>
          <p:cNvSpPr/>
          <p:nvPr/>
        </p:nvSpPr>
        <p:spPr>
          <a:xfrm>
            <a:off x="685800" y="5029200"/>
            <a:ext cx="2377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7F86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บันทึกใน PostgreSQL พร้อม strip base64 ออกจาก raw_json (กัน DB บวม)</a:t>
            </a:r>
            <a:endParaRPr lang="en-US" sz="900" dirty="0"/>
          </a:p>
        </p:txBody>
      </p:sp>
      <p:sp>
        <p:nvSpPr>
          <p:cNvPr id="46" name="Shape 44"/>
          <p:cNvSpPr/>
          <p:nvPr/>
        </p:nvSpPr>
        <p:spPr>
          <a:xfrm>
            <a:off x="3337560" y="3749040"/>
            <a:ext cx="2697480" cy="2194560"/>
          </a:xfrm>
          <a:prstGeom prst="rect">
            <a:avLst/>
          </a:prstGeom>
          <a:solidFill>
            <a:srgbClr val="131826"/>
          </a:solidFill>
          <a:ln w="12700">
            <a:solidFill>
              <a:srgbClr val="232B3D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3337560" y="3749040"/>
            <a:ext cx="45720" cy="2194560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48" name="Shape 46"/>
          <p:cNvSpPr/>
          <p:nvPr/>
        </p:nvSpPr>
        <p:spPr>
          <a:xfrm>
            <a:off x="3566160" y="3977640"/>
            <a:ext cx="548640" cy="548640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49" name="Text 47"/>
          <p:cNvSpPr/>
          <p:nvPr/>
        </p:nvSpPr>
        <p:spPr>
          <a:xfrm>
            <a:off x="3566160" y="39776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6</a:t>
            </a:r>
            <a:endParaRPr lang="en-US" sz="1800" dirty="0"/>
          </a:p>
        </p:txBody>
      </p:sp>
      <p:sp>
        <p:nvSpPr>
          <p:cNvPr id="50" name="Shape 48"/>
          <p:cNvSpPr/>
          <p:nvPr/>
        </p:nvSpPr>
        <p:spPr>
          <a:xfrm>
            <a:off x="5120640" y="4023360"/>
            <a:ext cx="777240" cy="365760"/>
          </a:xfrm>
          <a:prstGeom prst="rect">
            <a:avLst/>
          </a:prstGeom>
          <a:solidFill>
            <a:srgbClr val="1A2030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5120640" y="4023360"/>
            <a:ext cx="777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EF4444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&lt;5ms</a:t>
            </a:r>
            <a:endParaRPr lang="en-US" sz="900" dirty="0"/>
          </a:p>
        </p:txBody>
      </p:sp>
      <p:sp>
        <p:nvSpPr>
          <p:cNvPr id="52" name="Text 50"/>
          <p:cNvSpPr/>
          <p:nvPr/>
        </p:nvSpPr>
        <p:spPr>
          <a:xfrm>
            <a:off x="3566160" y="466344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WebSocket Broadcast</a:t>
            </a:r>
            <a:endParaRPr lang="en-US" sz="1300" dirty="0"/>
          </a:p>
        </p:txBody>
      </p:sp>
      <p:sp>
        <p:nvSpPr>
          <p:cNvPr id="53" name="Text 51"/>
          <p:cNvSpPr/>
          <p:nvPr/>
        </p:nvSpPr>
        <p:spPr>
          <a:xfrm>
            <a:off x="3566160" y="5029200"/>
            <a:ext cx="2377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7F86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Push event ใหม่ไปยัง dashboard ทุก client ที่เชื่อมต่ออยู่</a:t>
            </a:r>
            <a:endParaRPr lang="en-US" sz="900" dirty="0"/>
          </a:p>
        </p:txBody>
      </p:sp>
      <p:sp>
        <p:nvSpPr>
          <p:cNvPr id="54" name="Shape 52"/>
          <p:cNvSpPr/>
          <p:nvPr/>
        </p:nvSpPr>
        <p:spPr>
          <a:xfrm>
            <a:off x="6217920" y="3749040"/>
            <a:ext cx="2697480" cy="2194560"/>
          </a:xfrm>
          <a:prstGeom prst="rect">
            <a:avLst/>
          </a:prstGeom>
          <a:solidFill>
            <a:srgbClr val="131826"/>
          </a:solidFill>
          <a:ln w="12700">
            <a:solidFill>
              <a:srgbClr val="232B3D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6217920" y="3749040"/>
            <a:ext cx="45720" cy="2194560"/>
          </a:xfrm>
          <a:prstGeom prst="rect">
            <a:avLst/>
          </a:prstGeom>
          <a:solidFill>
            <a:srgbClr val="5B8DEF"/>
          </a:solidFill>
          <a:ln/>
        </p:spPr>
      </p:sp>
      <p:sp>
        <p:nvSpPr>
          <p:cNvPr id="56" name="Shape 54"/>
          <p:cNvSpPr/>
          <p:nvPr/>
        </p:nvSpPr>
        <p:spPr>
          <a:xfrm>
            <a:off x="6446520" y="3977640"/>
            <a:ext cx="548640" cy="548640"/>
          </a:xfrm>
          <a:prstGeom prst="ellipse">
            <a:avLst/>
          </a:prstGeom>
          <a:solidFill>
            <a:srgbClr val="5B8DEF"/>
          </a:solidFill>
          <a:ln/>
        </p:spPr>
      </p:sp>
      <p:sp>
        <p:nvSpPr>
          <p:cNvPr id="57" name="Text 55"/>
          <p:cNvSpPr/>
          <p:nvPr/>
        </p:nvSpPr>
        <p:spPr>
          <a:xfrm>
            <a:off x="6446520" y="39776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7</a:t>
            </a:r>
            <a:endParaRPr lang="en-US" sz="1800" dirty="0"/>
          </a:p>
        </p:txBody>
      </p:sp>
      <p:sp>
        <p:nvSpPr>
          <p:cNvPr id="58" name="Shape 56"/>
          <p:cNvSpPr/>
          <p:nvPr/>
        </p:nvSpPr>
        <p:spPr>
          <a:xfrm>
            <a:off x="8001000" y="4023360"/>
            <a:ext cx="777240" cy="365760"/>
          </a:xfrm>
          <a:prstGeom prst="rect">
            <a:avLst/>
          </a:prstGeom>
          <a:solidFill>
            <a:srgbClr val="1A2030"/>
          </a:solidFill>
          <a:ln w="12700">
            <a:solidFill>
              <a:srgbClr val="5B8DEF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8001000" y="4023360"/>
            <a:ext cx="777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5B8DE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&lt;10ms</a:t>
            </a:r>
            <a:endParaRPr lang="en-US" sz="900" dirty="0"/>
          </a:p>
        </p:txBody>
      </p:sp>
      <p:sp>
        <p:nvSpPr>
          <p:cNvPr id="60" name="Text 58"/>
          <p:cNvSpPr/>
          <p:nvPr/>
        </p:nvSpPr>
        <p:spPr>
          <a:xfrm>
            <a:off x="6446520" y="466344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Dashboard Update</a:t>
            </a:r>
            <a:endParaRPr lang="en-US" sz="1300" dirty="0"/>
          </a:p>
        </p:txBody>
      </p:sp>
      <p:sp>
        <p:nvSpPr>
          <p:cNvPr id="61" name="Text 59"/>
          <p:cNvSpPr/>
          <p:nvPr/>
        </p:nvSpPr>
        <p:spPr>
          <a:xfrm>
            <a:off x="6446520" y="5029200"/>
            <a:ext cx="2377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7F86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 event row appear, KPI update, map marker pulse, chart re-render</a:t>
            </a:r>
            <a:endParaRPr lang="en-US" sz="900" dirty="0"/>
          </a:p>
        </p:txBody>
      </p:sp>
      <p:sp>
        <p:nvSpPr>
          <p:cNvPr id="62" name="Shape 60"/>
          <p:cNvSpPr/>
          <p:nvPr/>
        </p:nvSpPr>
        <p:spPr>
          <a:xfrm>
            <a:off x="9098280" y="3749040"/>
            <a:ext cx="2697480" cy="2194560"/>
          </a:xfrm>
          <a:prstGeom prst="rect">
            <a:avLst/>
          </a:prstGeom>
          <a:solidFill>
            <a:srgbClr val="131826"/>
          </a:solidFill>
          <a:ln w="12700">
            <a:solidFill>
              <a:srgbClr val="232B3D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9098280" y="3749040"/>
            <a:ext cx="45720" cy="2194560"/>
          </a:xfrm>
          <a:prstGeom prst="rect">
            <a:avLst/>
          </a:prstGeom>
          <a:solidFill>
            <a:srgbClr val="22C55E"/>
          </a:solidFill>
          <a:ln/>
        </p:spPr>
      </p:sp>
      <p:sp>
        <p:nvSpPr>
          <p:cNvPr id="64" name="Shape 62"/>
          <p:cNvSpPr/>
          <p:nvPr/>
        </p:nvSpPr>
        <p:spPr>
          <a:xfrm>
            <a:off x="9326880" y="3977640"/>
            <a:ext cx="548640" cy="548640"/>
          </a:xfrm>
          <a:prstGeom prst="ellipse">
            <a:avLst/>
          </a:prstGeom>
          <a:solidFill>
            <a:srgbClr val="22C55E"/>
          </a:solidFill>
          <a:ln/>
        </p:spPr>
      </p:sp>
      <p:sp>
        <p:nvSpPr>
          <p:cNvPr id="65" name="Text 63"/>
          <p:cNvSpPr/>
          <p:nvPr/>
        </p:nvSpPr>
        <p:spPr>
          <a:xfrm>
            <a:off x="9326880" y="39776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8</a:t>
            </a:r>
            <a:endParaRPr lang="en-US" sz="1800" dirty="0"/>
          </a:p>
        </p:txBody>
      </p:sp>
      <p:sp>
        <p:nvSpPr>
          <p:cNvPr id="66" name="Shape 64"/>
          <p:cNvSpPr/>
          <p:nvPr/>
        </p:nvSpPr>
        <p:spPr>
          <a:xfrm>
            <a:off x="10881360" y="4023360"/>
            <a:ext cx="777240" cy="365760"/>
          </a:xfrm>
          <a:prstGeom prst="rect">
            <a:avLst/>
          </a:prstGeom>
          <a:solidFill>
            <a:srgbClr val="1A2030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10881360" y="4023360"/>
            <a:ext cx="777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2C55E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~500ms</a:t>
            </a:r>
            <a:endParaRPr lang="en-US" sz="900" dirty="0"/>
          </a:p>
        </p:txBody>
      </p:sp>
      <p:sp>
        <p:nvSpPr>
          <p:cNvPr id="68" name="Text 66"/>
          <p:cNvSpPr/>
          <p:nvPr/>
        </p:nvSpPr>
        <p:spPr>
          <a:xfrm>
            <a:off x="9326880" y="466344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Alert Trigger (optional)</a:t>
            </a:r>
            <a:endParaRPr lang="en-US" sz="1300" dirty="0"/>
          </a:p>
        </p:txBody>
      </p:sp>
      <p:sp>
        <p:nvSpPr>
          <p:cNvPr id="69" name="Text 67"/>
          <p:cNvSpPr/>
          <p:nvPr/>
        </p:nvSpPr>
        <p:spPr>
          <a:xfrm>
            <a:off x="9326880" y="5029200"/>
            <a:ext cx="2377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7F86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ตรวจ alert rules → ถ้า match ส่ง LINE notification + log</a:t>
            </a:r>
            <a:endParaRPr lang="en-US" sz="900" dirty="0"/>
          </a:p>
        </p:txBody>
      </p:sp>
      <p:sp>
        <p:nvSpPr>
          <p:cNvPr id="70" name="Shape 68"/>
          <p:cNvSpPr/>
          <p:nvPr/>
        </p:nvSpPr>
        <p:spPr>
          <a:xfrm>
            <a:off x="457200" y="6126480"/>
            <a:ext cx="11247120" cy="365760"/>
          </a:xfrm>
          <a:prstGeom prst="rect">
            <a:avLst/>
          </a:prstGeom>
          <a:solidFill>
            <a:srgbClr val="1A2030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457200" y="612648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F86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End-to-end latency:  </a:t>
            </a:r>
            <a:pPr algn="ctr" indent="0" marL="0">
              <a:buNone/>
            </a:pPr>
            <a:r>
              <a:rPr lang="en-US" sz="1300" b="1" dirty="0">
                <a:solidFill>
                  <a:srgbClr val="22C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~200-400ms</a:t>
            </a:r>
            <a:pPr algn="ctr" indent="0" marL="0">
              <a:buNone/>
            </a:pPr>
            <a:r>
              <a:rPr lang="en-US" sz="1100" dirty="0">
                <a:solidFill>
                  <a:srgbClr val="7F86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(camera → dashboard)</a:t>
            </a:r>
            <a:endParaRPr lang="en-US" sz="1100" dirty="0"/>
          </a:p>
        </p:txBody>
      </p:sp>
      <p:sp>
        <p:nvSpPr>
          <p:cNvPr id="72" name="Text 70"/>
          <p:cNvSpPr/>
          <p:nvPr/>
        </p:nvSpPr>
        <p:spPr>
          <a:xfrm>
            <a:off x="457200" y="653796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52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Bosch CCTV MQTT Dashboard</a:t>
            </a:r>
            <a:endParaRPr lang="en-US" sz="900" dirty="0"/>
          </a:p>
        </p:txBody>
      </p:sp>
      <p:sp>
        <p:nvSpPr>
          <p:cNvPr id="73" name="Text 71"/>
          <p:cNvSpPr/>
          <p:nvPr/>
        </p:nvSpPr>
        <p:spPr>
          <a:xfrm>
            <a:off x="11430000" y="653796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A52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900" dirty="0"/>
          </a:p>
        </p:txBody>
      </p:sp>
      <p:sp>
        <p:nvSpPr>
          <p:cNvPr id="74" name="Shape 72"/>
          <p:cNvSpPr/>
          <p:nvPr/>
        </p:nvSpPr>
        <p:spPr>
          <a:xfrm>
            <a:off x="457200" y="6492240"/>
            <a:ext cx="11247120" cy="0"/>
          </a:xfrm>
          <a:prstGeom prst="line">
            <a:avLst/>
          </a:prstGeom>
          <a:noFill/>
          <a:ln w="6350">
            <a:solidFill>
              <a:srgbClr val="232B3D"/>
            </a:solidFill>
            <a:prstDash val="solid"/>
          </a:ln>
        </p:spPr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45720"/>
          </a:xfrm>
          <a:prstGeom prst="rect">
            <a:avLst/>
          </a:prstGeom>
          <a:solidFill>
            <a:srgbClr val="5B8DEF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11247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Dashboard Features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57200" y="64008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7F86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หน้าหลักครอบคลุมทุกการใช้งาน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57200" y="960120"/>
            <a:ext cx="457200" cy="36576"/>
          </a:xfrm>
          <a:prstGeom prst="rect">
            <a:avLst/>
          </a:prstGeom>
          <a:solidFill>
            <a:srgbClr val="5B8DEF"/>
          </a:solidFill>
          <a:ln/>
        </p:spPr>
      </p:sp>
      <p:sp>
        <p:nvSpPr>
          <p:cNvPr id="6" name="Shape 4"/>
          <p:cNvSpPr/>
          <p:nvPr/>
        </p:nvSpPr>
        <p:spPr>
          <a:xfrm>
            <a:off x="457200" y="1280160"/>
            <a:ext cx="3657600" cy="2423160"/>
          </a:xfrm>
          <a:prstGeom prst="rect">
            <a:avLst/>
          </a:prstGeom>
          <a:solidFill>
            <a:srgbClr val="131826"/>
          </a:solidFill>
          <a:ln w="12700">
            <a:solidFill>
              <a:srgbClr val="232B3D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1280160"/>
            <a:ext cx="45720" cy="2423160"/>
          </a:xfrm>
          <a:prstGeom prst="rect">
            <a:avLst/>
          </a:prstGeom>
          <a:solidFill>
            <a:srgbClr val="5B8DEF"/>
          </a:solidFill>
          <a:ln/>
        </p:spPr>
      </p:sp>
      <p:sp>
        <p:nvSpPr>
          <p:cNvPr id="8" name="Text 6"/>
          <p:cNvSpPr/>
          <p:nvPr/>
        </p:nvSpPr>
        <p:spPr>
          <a:xfrm>
            <a:off x="685800" y="1463040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📡 Camera Status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685800" y="1965960"/>
            <a:ext cx="457200" cy="27432"/>
          </a:xfrm>
          <a:prstGeom prst="rect">
            <a:avLst/>
          </a:prstGeom>
          <a:solidFill>
            <a:srgbClr val="5B8DEF"/>
          </a:solidFill>
          <a:ln/>
        </p:spPr>
      </p:sp>
      <p:sp>
        <p:nvSpPr>
          <p:cNvPr id="10" name="Text 8"/>
          <p:cNvSpPr/>
          <p:nvPr/>
        </p:nvSpPr>
        <p:spPr>
          <a:xfrm>
            <a:off x="685800" y="2148840"/>
            <a:ext cx="33832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000" dirty="0">
                <a:solidFill>
                  <a:srgbClr val="E4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 snapshot grid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000" dirty="0">
                <a:solidFill>
                  <a:srgbClr val="E4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ONLINE / OFFLINE / REC badges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000" dirty="0">
                <a:solidFill>
                  <a:srgbClr val="E4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Per-camera KPI (events today, persons)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000" dirty="0">
                <a:solidFill>
                  <a:srgbClr val="E4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Auto-refresh every 10s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297680" y="1280160"/>
            <a:ext cx="3657600" cy="2423160"/>
          </a:xfrm>
          <a:prstGeom prst="rect">
            <a:avLst/>
          </a:prstGeom>
          <a:solidFill>
            <a:srgbClr val="131826"/>
          </a:solidFill>
          <a:ln w="12700">
            <a:solidFill>
              <a:srgbClr val="232B3D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297680" y="1280160"/>
            <a:ext cx="45720" cy="2423160"/>
          </a:xfrm>
          <a:prstGeom prst="rect">
            <a:avLst/>
          </a:prstGeom>
          <a:solidFill>
            <a:srgbClr val="22C55E"/>
          </a:solidFill>
          <a:ln/>
        </p:spPr>
      </p:sp>
      <p:sp>
        <p:nvSpPr>
          <p:cNvPr id="13" name="Text 11"/>
          <p:cNvSpPr/>
          <p:nvPr/>
        </p:nvSpPr>
        <p:spPr>
          <a:xfrm>
            <a:off x="4526280" y="1463040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⚡ Live Events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4526280" y="1965960"/>
            <a:ext cx="457200" cy="27432"/>
          </a:xfrm>
          <a:prstGeom prst="rect">
            <a:avLst/>
          </a:prstGeom>
          <a:solidFill>
            <a:srgbClr val="22C55E"/>
          </a:solidFill>
          <a:ln/>
        </p:spPr>
      </p:sp>
      <p:sp>
        <p:nvSpPr>
          <p:cNvPr id="15" name="Text 13"/>
          <p:cNvSpPr/>
          <p:nvPr/>
        </p:nvSpPr>
        <p:spPr>
          <a:xfrm>
            <a:off x="4526280" y="2148840"/>
            <a:ext cx="33832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000" dirty="0">
                <a:solidFill>
                  <a:srgbClr val="E4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Real-time stream via WebSocket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000" dirty="0">
                <a:solidFill>
                  <a:srgbClr val="E4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Filter by camera / rule / class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000" dirty="0">
                <a:solidFill>
                  <a:srgbClr val="E4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Click event → view snapshot detail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000" dirty="0">
                <a:solidFill>
                  <a:srgbClr val="E4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Tab: All / With Snapshot / LPR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8138160" y="1280160"/>
            <a:ext cx="3657600" cy="2423160"/>
          </a:xfrm>
          <a:prstGeom prst="rect">
            <a:avLst/>
          </a:prstGeom>
          <a:solidFill>
            <a:srgbClr val="131826"/>
          </a:solidFill>
          <a:ln w="12700">
            <a:solidFill>
              <a:srgbClr val="232B3D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138160" y="1280160"/>
            <a:ext cx="45720" cy="242316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8" name="Text 16"/>
          <p:cNvSpPr/>
          <p:nvPr/>
        </p:nvSpPr>
        <p:spPr>
          <a:xfrm>
            <a:off x="8366760" y="1463040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📸 Snapshot Browser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8366760" y="1965960"/>
            <a:ext cx="457200" cy="27432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20" name="Text 18"/>
          <p:cNvSpPr/>
          <p:nvPr/>
        </p:nvSpPr>
        <p:spPr>
          <a:xfrm>
            <a:off x="8366760" y="2148840"/>
            <a:ext cx="33832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000" dirty="0">
                <a:solidFill>
                  <a:srgbClr val="E4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Grid + List view modes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000" dirty="0">
                <a:solidFill>
                  <a:srgbClr val="E4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Filter by camera / rule / date range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000" dirty="0">
                <a:solidFill>
                  <a:srgbClr val="E4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Click image → full screen modal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000" dirty="0">
                <a:solidFill>
                  <a:srgbClr val="E4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 badge (MQTT / HTTP)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57200" y="3886200"/>
            <a:ext cx="3657600" cy="2423160"/>
          </a:xfrm>
          <a:prstGeom prst="rect">
            <a:avLst/>
          </a:prstGeom>
          <a:solidFill>
            <a:srgbClr val="131826"/>
          </a:solidFill>
          <a:ln w="12700">
            <a:solidFill>
              <a:srgbClr val="232B3D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57200" y="3886200"/>
            <a:ext cx="45720" cy="2423160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23" name="Text 21"/>
          <p:cNvSpPr/>
          <p:nvPr/>
        </p:nvSpPr>
        <p:spPr>
          <a:xfrm>
            <a:off x="685800" y="4069080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🗺 Interactive Map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685800" y="4572000"/>
            <a:ext cx="457200" cy="27432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25" name="Text 23"/>
          <p:cNvSpPr/>
          <p:nvPr/>
        </p:nvSpPr>
        <p:spPr>
          <a:xfrm>
            <a:off x="685800" y="4754880"/>
            <a:ext cx="33832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000" dirty="0">
                <a:solidFill>
                  <a:srgbClr val="E4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OpenStreetMap (CartoDB Dark)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000" dirty="0">
                <a:solidFill>
                  <a:srgbClr val="E4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Heatmap toggle (last 24h)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000" dirty="0">
                <a:solidFill>
                  <a:srgbClr val="E4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Hover popup with top events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000" dirty="0">
                <a:solidFill>
                  <a:srgbClr val="E4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Zoom to camera on click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4297680" y="3886200"/>
            <a:ext cx="3657600" cy="2423160"/>
          </a:xfrm>
          <a:prstGeom prst="rect">
            <a:avLst/>
          </a:prstGeom>
          <a:solidFill>
            <a:srgbClr val="131826"/>
          </a:solidFill>
          <a:ln w="12700">
            <a:solidFill>
              <a:srgbClr val="232B3D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297680" y="3886200"/>
            <a:ext cx="45720" cy="2423160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28" name="Text 26"/>
          <p:cNvSpPr/>
          <p:nvPr/>
        </p:nvSpPr>
        <p:spPr>
          <a:xfrm>
            <a:off x="4526280" y="4069080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📊 Analytics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4526280" y="4572000"/>
            <a:ext cx="457200" cy="27432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30" name="Text 28"/>
          <p:cNvSpPr/>
          <p:nvPr/>
        </p:nvSpPr>
        <p:spPr>
          <a:xfrm>
            <a:off x="4526280" y="4754880"/>
            <a:ext cx="33832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000" dirty="0">
                <a:solidFill>
                  <a:srgbClr val="E4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KPI cards (Total/Alerts/Traffic/People)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000" dirty="0">
                <a:solidFill>
                  <a:srgbClr val="E4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Timeline chart (Total + Alerts lines)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000" dirty="0">
                <a:solidFill>
                  <a:srgbClr val="E4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Event breakdown table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000" dirty="0">
                <a:solidFill>
                  <a:srgbClr val="E4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3D pie distribution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8138160" y="3886200"/>
            <a:ext cx="3657600" cy="2423160"/>
          </a:xfrm>
          <a:prstGeom prst="rect">
            <a:avLst/>
          </a:prstGeom>
          <a:solidFill>
            <a:srgbClr val="131826"/>
          </a:solidFill>
          <a:ln w="12700">
            <a:solidFill>
              <a:srgbClr val="232B3D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8138160" y="3886200"/>
            <a:ext cx="45720" cy="2423160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33" name="Text 31"/>
          <p:cNvSpPr/>
          <p:nvPr/>
        </p:nvSpPr>
        <p:spPr>
          <a:xfrm>
            <a:off x="8366760" y="4069080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📄 Reports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8366760" y="4572000"/>
            <a:ext cx="457200" cy="27432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35" name="Text 33"/>
          <p:cNvSpPr/>
          <p:nvPr/>
        </p:nvSpPr>
        <p:spPr>
          <a:xfrm>
            <a:off x="8366760" y="4754880"/>
            <a:ext cx="33832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000" dirty="0">
                <a:solidFill>
                  <a:srgbClr val="E4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Daily / Weekly summary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000" dirty="0">
                <a:solidFill>
                  <a:srgbClr val="E4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PDF export (jsPDF + html2canvas)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000" dirty="0">
                <a:solidFill>
                  <a:srgbClr val="E4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10 events ranking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000" dirty="0">
                <a:solidFill>
                  <a:srgbClr val="E4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Per-camera breakdown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457200" y="653796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52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Bosch CCTV MQTT Dashboard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11430000" y="653796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A52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457200" y="6492240"/>
            <a:ext cx="11247120" cy="0"/>
          </a:xfrm>
          <a:prstGeom prst="line">
            <a:avLst/>
          </a:prstGeom>
          <a:noFill/>
          <a:ln w="6350">
            <a:solidFill>
              <a:srgbClr val="232B3D"/>
            </a:solidFill>
            <a:prstDash val="solid"/>
          </a:ln>
        </p:spPr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45720"/>
          </a:xfrm>
          <a:prstGeom prst="rect">
            <a:avLst/>
          </a:prstGeom>
          <a:solidFill>
            <a:srgbClr val="5B8DEF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11247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Technology Stack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57200" y="64008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7F86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Components และเหตุผลการเลือกใช้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57200" y="960120"/>
            <a:ext cx="457200" cy="36576"/>
          </a:xfrm>
          <a:prstGeom prst="rect">
            <a:avLst/>
          </a:prstGeom>
          <a:solidFill>
            <a:srgbClr val="5B8DEF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128016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7F8694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INFRASTRUCTURE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57200" y="1600200"/>
            <a:ext cx="5486400" cy="18288"/>
          </a:xfrm>
          <a:prstGeom prst="rect">
            <a:avLst/>
          </a:prstGeom>
          <a:solidFill>
            <a:srgbClr val="232B3D"/>
          </a:solidFill>
          <a:ln/>
        </p:spPr>
      </p:sp>
      <p:sp>
        <p:nvSpPr>
          <p:cNvPr id="8" name="Shape 6"/>
          <p:cNvSpPr/>
          <p:nvPr/>
        </p:nvSpPr>
        <p:spPr>
          <a:xfrm>
            <a:off x="457200" y="1920240"/>
            <a:ext cx="182880" cy="182880"/>
          </a:xfrm>
          <a:prstGeom prst="ellipse">
            <a:avLst/>
          </a:prstGeom>
          <a:solidFill>
            <a:srgbClr val="5B8DEF"/>
          </a:solidFill>
          <a:ln/>
        </p:spPr>
      </p:sp>
      <p:sp>
        <p:nvSpPr>
          <p:cNvPr id="9" name="Text 7"/>
          <p:cNvSpPr/>
          <p:nvPr/>
        </p:nvSpPr>
        <p:spPr>
          <a:xfrm>
            <a:off x="777240" y="178308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Docker Compose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777240" y="2029968"/>
            <a:ext cx="5029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F86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Container orchestration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57200" y="2560320"/>
            <a:ext cx="182880" cy="182880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12" name="Text 10"/>
          <p:cNvSpPr/>
          <p:nvPr/>
        </p:nvSpPr>
        <p:spPr>
          <a:xfrm>
            <a:off x="777240" y="242316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Mosquitto 2.0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777240" y="2670048"/>
            <a:ext cx="5029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F86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MQTT message broker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57200" y="3200400"/>
            <a:ext cx="182880" cy="182880"/>
          </a:xfrm>
          <a:prstGeom prst="ellipse">
            <a:avLst/>
          </a:prstGeom>
          <a:solidFill>
            <a:srgbClr val="06B6D4"/>
          </a:solidFill>
          <a:ln/>
        </p:spPr>
      </p:sp>
      <p:sp>
        <p:nvSpPr>
          <p:cNvPr id="15" name="Text 13"/>
          <p:cNvSpPr/>
          <p:nvPr/>
        </p:nvSpPr>
        <p:spPr>
          <a:xfrm>
            <a:off x="777240" y="306324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PostgreSQL 16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777240" y="3310128"/>
            <a:ext cx="5029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F86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Time-series database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6217920" y="128016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7F8694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BACKEND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6217920" y="1600200"/>
            <a:ext cx="5486400" cy="18288"/>
          </a:xfrm>
          <a:prstGeom prst="rect">
            <a:avLst/>
          </a:prstGeom>
          <a:solidFill>
            <a:srgbClr val="232B3D"/>
          </a:solidFill>
          <a:ln/>
        </p:spPr>
      </p:sp>
      <p:sp>
        <p:nvSpPr>
          <p:cNvPr id="19" name="Shape 17"/>
          <p:cNvSpPr/>
          <p:nvPr/>
        </p:nvSpPr>
        <p:spPr>
          <a:xfrm>
            <a:off x="6217920" y="1920240"/>
            <a:ext cx="182880" cy="182880"/>
          </a:xfrm>
          <a:prstGeom prst="ellipse">
            <a:avLst/>
          </a:prstGeom>
          <a:solidFill>
            <a:srgbClr val="22C55E"/>
          </a:solidFill>
          <a:ln/>
        </p:spPr>
      </p:sp>
      <p:sp>
        <p:nvSpPr>
          <p:cNvPr id="20" name="Text 18"/>
          <p:cNvSpPr/>
          <p:nvPr/>
        </p:nvSpPr>
        <p:spPr>
          <a:xfrm>
            <a:off x="6537960" y="178308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Node.js 20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6537960" y="2029968"/>
            <a:ext cx="5029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F86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Async runtime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6217920" y="2560320"/>
            <a:ext cx="182880" cy="182880"/>
          </a:xfrm>
          <a:prstGeom prst="ellipse">
            <a:avLst/>
          </a:prstGeom>
          <a:solidFill>
            <a:srgbClr val="22C55E"/>
          </a:solidFill>
          <a:ln/>
        </p:spPr>
      </p:sp>
      <p:sp>
        <p:nvSpPr>
          <p:cNvPr id="23" name="Text 21"/>
          <p:cNvSpPr/>
          <p:nvPr/>
        </p:nvSpPr>
        <p:spPr>
          <a:xfrm>
            <a:off x="6537960" y="242316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Express + ws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6537960" y="2670048"/>
            <a:ext cx="5029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F86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REST + WebSocket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6217920" y="3200400"/>
            <a:ext cx="182880" cy="182880"/>
          </a:xfrm>
          <a:prstGeom prst="ellipse">
            <a:avLst/>
          </a:prstGeom>
          <a:solidFill>
            <a:srgbClr val="22C55E"/>
          </a:solidFill>
          <a:ln/>
        </p:spPr>
      </p:sp>
      <p:sp>
        <p:nvSpPr>
          <p:cNvPr id="26" name="Text 24"/>
          <p:cNvSpPr/>
          <p:nvPr/>
        </p:nvSpPr>
        <p:spPr>
          <a:xfrm>
            <a:off x="6537960" y="306324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pg (node-postgres)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6537960" y="3310128"/>
            <a:ext cx="5029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F86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DB client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457200" y="38862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7F8694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FRONTEND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457200" y="4206240"/>
            <a:ext cx="5486400" cy="18288"/>
          </a:xfrm>
          <a:prstGeom prst="rect">
            <a:avLst/>
          </a:prstGeom>
          <a:solidFill>
            <a:srgbClr val="232B3D"/>
          </a:solidFill>
          <a:ln/>
        </p:spPr>
      </p:sp>
      <p:sp>
        <p:nvSpPr>
          <p:cNvPr id="30" name="Shape 28"/>
          <p:cNvSpPr/>
          <p:nvPr/>
        </p:nvSpPr>
        <p:spPr>
          <a:xfrm>
            <a:off x="457200" y="4526280"/>
            <a:ext cx="182880" cy="182880"/>
          </a:xfrm>
          <a:prstGeom prst="ellipse">
            <a:avLst/>
          </a:prstGeom>
          <a:solidFill>
            <a:srgbClr val="A78BFA"/>
          </a:solidFill>
          <a:ln/>
        </p:spPr>
      </p:sp>
      <p:sp>
        <p:nvSpPr>
          <p:cNvPr id="31" name="Text 29"/>
          <p:cNvSpPr/>
          <p:nvPr/>
        </p:nvSpPr>
        <p:spPr>
          <a:xfrm>
            <a:off x="777240" y="438912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Vanilla JS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777240" y="4636008"/>
            <a:ext cx="5029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F86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framework lock-in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457200" y="5166360"/>
            <a:ext cx="182880" cy="182880"/>
          </a:xfrm>
          <a:prstGeom prst="ellipse">
            <a:avLst/>
          </a:prstGeom>
          <a:solidFill>
            <a:srgbClr val="A78BFA"/>
          </a:solidFill>
          <a:ln/>
        </p:spPr>
      </p:sp>
      <p:sp>
        <p:nvSpPr>
          <p:cNvPr id="34" name="Text 32"/>
          <p:cNvSpPr/>
          <p:nvPr/>
        </p:nvSpPr>
        <p:spPr>
          <a:xfrm>
            <a:off x="777240" y="502920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Chart.js 4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777240" y="5276088"/>
            <a:ext cx="5029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F86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Time-series charts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457200" y="5806440"/>
            <a:ext cx="182880" cy="182880"/>
          </a:xfrm>
          <a:prstGeom prst="ellipse">
            <a:avLst/>
          </a:prstGeom>
          <a:solidFill>
            <a:srgbClr val="A78BFA"/>
          </a:solidFill>
          <a:ln/>
        </p:spPr>
      </p:sp>
      <p:sp>
        <p:nvSpPr>
          <p:cNvPr id="37" name="Text 35"/>
          <p:cNvSpPr/>
          <p:nvPr/>
        </p:nvSpPr>
        <p:spPr>
          <a:xfrm>
            <a:off x="777240" y="566928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OpenLayers 9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777240" y="5916168"/>
            <a:ext cx="5029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F86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Interactive maps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6217920" y="38862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7F8694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INTEGRATION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6217920" y="4206240"/>
            <a:ext cx="5486400" cy="18288"/>
          </a:xfrm>
          <a:prstGeom prst="rect">
            <a:avLst/>
          </a:prstGeom>
          <a:solidFill>
            <a:srgbClr val="232B3D"/>
          </a:solidFill>
          <a:ln/>
        </p:spPr>
      </p:sp>
      <p:sp>
        <p:nvSpPr>
          <p:cNvPr id="41" name="Shape 39"/>
          <p:cNvSpPr/>
          <p:nvPr/>
        </p:nvSpPr>
        <p:spPr>
          <a:xfrm>
            <a:off x="6217920" y="4526280"/>
            <a:ext cx="182880" cy="182880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42" name="Text 40"/>
          <p:cNvSpPr/>
          <p:nvPr/>
        </p:nvSpPr>
        <p:spPr>
          <a:xfrm>
            <a:off x="6537960" y="438912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ONVIF Profile M</a:t>
            </a:r>
            <a:endParaRPr lang="en-US" sz="1200" dirty="0"/>
          </a:p>
        </p:txBody>
      </p:sp>
      <p:sp>
        <p:nvSpPr>
          <p:cNvPr id="43" name="Text 41"/>
          <p:cNvSpPr/>
          <p:nvPr/>
        </p:nvSpPr>
        <p:spPr>
          <a:xfrm>
            <a:off x="6537960" y="4636008"/>
            <a:ext cx="5029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F86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Camera standard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6217920" y="5166360"/>
            <a:ext cx="182880" cy="182880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45" name="Text 43"/>
          <p:cNvSpPr/>
          <p:nvPr/>
        </p:nvSpPr>
        <p:spPr>
          <a:xfrm>
            <a:off x="6537960" y="502920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Bosch RCP+/CGI</a:t>
            </a:r>
            <a:endParaRPr lang="en-US" sz="1200" dirty="0"/>
          </a:p>
        </p:txBody>
      </p:sp>
      <p:sp>
        <p:nvSpPr>
          <p:cNvPr id="46" name="Text 44"/>
          <p:cNvSpPr/>
          <p:nvPr/>
        </p:nvSpPr>
        <p:spPr>
          <a:xfrm>
            <a:off x="6537960" y="5276088"/>
            <a:ext cx="5029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F86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Snapshot HTTP API</a:t>
            </a:r>
            <a:endParaRPr lang="en-US" sz="1000" dirty="0"/>
          </a:p>
        </p:txBody>
      </p:sp>
      <p:sp>
        <p:nvSpPr>
          <p:cNvPr id="47" name="Shape 45"/>
          <p:cNvSpPr/>
          <p:nvPr/>
        </p:nvSpPr>
        <p:spPr>
          <a:xfrm>
            <a:off x="6217920" y="5806440"/>
            <a:ext cx="182880" cy="182880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48" name="Text 46"/>
          <p:cNvSpPr/>
          <p:nvPr/>
        </p:nvSpPr>
        <p:spPr>
          <a:xfrm>
            <a:off x="6537960" y="566928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LINE Messaging API</a:t>
            </a:r>
            <a:endParaRPr lang="en-US" sz="1200" dirty="0"/>
          </a:p>
        </p:txBody>
      </p:sp>
      <p:sp>
        <p:nvSpPr>
          <p:cNvPr id="49" name="Text 47"/>
          <p:cNvSpPr/>
          <p:nvPr/>
        </p:nvSpPr>
        <p:spPr>
          <a:xfrm>
            <a:off x="6537960" y="5916168"/>
            <a:ext cx="5029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F86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Notifications</a:t>
            </a:r>
            <a:endParaRPr lang="en-US" sz="1000" dirty="0"/>
          </a:p>
        </p:txBody>
      </p:sp>
      <p:sp>
        <p:nvSpPr>
          <p:cNvPr id="50" name="Text 48"/>
          <p:cNvSpPr/>
          <p:nvPr/>
        </p:nvSpPr>
        <p:spPr>
          <a:xfrm>
            <a:off x="457200" y="653796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52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Bosch CCTV MQTT Dashboard</a:t>
            </a:r>
            <a:endParaRPr lang="en-US" sz="900" dirty="0"/>
          </a:p>
        </p:txBody>
      </p:sp>
      <p:sp>
        <p:nvSpPr>
          <p:cNvPr id="51" name="Text 49"/>
          <p:cNvSpPr/>
          <p:nvPr/>
        </p:nvSpPr>
        <p:spPr>
          <a:xfrm>
            <a:off x="11430000" y="653796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A52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900" dirty="0"/>
          </a:p>
        </p:txBody>
      </p:sp>
      <p:sp>
        <p:nvSpPr>
          <p:cNvPr id="52" name="Shape 50"/>
          <p:cNvSpPr/>
          <p:nvPr/>
        </p:nvSpPr>
        <p:spPr>
          <a:xfrm>
            <a:off x="457200" y="6492240"/>
            <a:ext cx="11247120" cy="0"/>
          </a:xfrm>
          <a:prstGeom prst="line">
            <a:avLst/>
          </a:prstGeom>
          <a:noFill/>
          <a:ln w="6350">
            <a:solidFill>
              <a:srgbClr val="232B3D"/>
            </a:solidFill>
            <a:prstDash val="solid"/>
          </a:ln>
        </p:spPr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45720"/>
          </a:xfrm>
          <a:prstGeom prst="rect">
            <a:avLst/>
          </a:prstGeom>
          <a:solidFill>
            <a:srgbClr val="5B8DEF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11247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Scaling Tiers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57200" y="64008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7F86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ระดับการ deploy ตามจำนวนกล้อง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57200" y="960120"/>
            <a:ext cx="457200" cy="36576"/>
          </a:xfrm>
          <a:prstGeom prst="rect">
            <a:avLst/>
          </a:prstGeom>
          <a:solidFill>
            <a:srgbClr val="5B8DEF"/>
          </a:solidFill>
          <a:ln/>
        </p:spPr>
      </p:sp>
      <p:sp>
        <p:nvSpPr>
          <p:cNvPr id="6" name="Shape 4"/>
          <p:cNvSpPr/>
          <p:nvPr/>
        </p:nvSpPr>
        <p:spPr>
          <a:xfrm>
            <a:off x="457200" y="1371600"/>
            <a:ext cx="11247120" cy="457200"/>
          </a:xfrm>
          <a:prstGeom prst="rect">
            <a:avLst/>
          </a:prstGeom>
          <a:solidFill>
            <a:srgbClr val="1A2030"/>
          </a:solidFill>
          <a:ln w="12700">
            <a:solidFill>
              <a:srgbClr val="232B3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371600"/>
            <a:ext cx="1371600" cy="4572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7F8694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TIER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1828800" y="1371600"/>
            <a:ext cx="1828800" cy="4572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7F8694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CAMERAS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3657600" y="1371600"/>
            <a:ext cx="3657600" cy="4572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7F8694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ARCHITECTURE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7315200" y="1371600"/>
            <a:ext cx="2286000" cy="4572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7F8694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STORAGE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9601200" y="1371600"/>
            <a:ext cx="2103120" cy="4572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7F8694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ANNUAL COST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57200" y="1874520"/>
            <a:ext cx="11247120" cy="731520"/>
          </a:xfrm>
          <a:prstGeom prst="rect">
            <a:avLst/>
          </a:prstGeom>
          <a:solidFill>
            <a:srgbClr val="131826"/>
          </a:solidFill>
          <a:ln w="6350">
            <a:solidFill>
              <a:srgbClr val="232B3D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57200" y="1874520"/>
            <a:ext cx="73152" cy="731520"/>
          </a:xfrm>
          <a:prstGeom prst="rect">
            <a:avLst/>
          </a:prstGeom>
          <a:solidFill>
            <a:srgbClr val="22C55E"/>
          </a:solidFill>
          <a:ln/>
        </p:spPr>
      </p:sp>
      <p:sp>
        <p:nvSpPr>
          <p:cNvPr id="14" name="Text 12"/>
          <p:cNvSpPr/>
          <p:nvPr/>
        </p:nvSpPr>
        <p:spPr>
          <a:xfrm>
            <a:off x="594360" y="1874520"/>
            <a:ext cx="1188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2C55E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G1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1828800" y="1874520"/>
            <a:ext cx="1828800" cy="7315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200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3657600" y="1874520"/>
            <a:ext cx="3657600" cy="7315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4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Single Server (All-in-One)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7315200" y="1874520"/>
            <a:ext cx="2286000" cy="7315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F86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2.5 TB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9601200" y="1874520"/>
            <a:ext cx="2103120" cy="7315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2C55E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16,000 ฿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57200" y="2651760"/>
            <a:ext cx="11247120" cy="731520"/>
          </a:xfrm>
          <a:prstGeom prst="rect">
            <a:avLst/>
          </a:prstGeom>
          <a:solidFill>
            <a:srgbClr val="1A2030"/>
          </a:solidFill>
          <a:ln w="6350">
            <a:solidFill>
              <a:srgbClr val="232B3D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57200" y="2651760"/>
            <a:ext cx="73152" cy="731520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21" name="Text 19"/>
          <p:cNvSpPr/>
          <p:nvPr/>
        </p:nvSpPr>
        <p:spPr>
          <a:xfrm>
            <a:off x="594360" y="2651760"/>
            <a:ext cx="1188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6B6D4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G2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1828800" y="2651760"/>
            <a:ext cx="1828800" cy="7315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500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3657600" y="2651760"/>
            <a:ext cx="3657600" cy="7315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4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Split: App + DB Server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7315200" y="2651760"/>
            <a:ext cx="2286000" cy="7315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F86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 TB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9601200" y="2651760"/>
            <a:ext cx="2103120" cy="7315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6B6D4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48,000 ฿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457200" y="3429000"/>
            <a:ext cx="11247120" cy="731520"/>
          </a:xfrm>
          <a:prstGeom prst="rect">
            <a:avLst/>
          </a:prstGeom>
          <a:solidFill>
            <a:srgbClr val="131826"/>
          </a:solidFill>
          <a:ln w="6350">
            <a:solidFill>
              <a:srgbClr val="232B3D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57200" y="3429000"/>
            <a:ext cx="73152" cy="73152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28" name="Text 26"/>
          <p:cNvSpPr/>
          <p:nvPr/>
        </p:nvSpPr>
        <p:spPr>
          <a:xfrm>
            <a:off x="594360" y="3429000"/>
            <a:ext cx="1188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59E0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G3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1828800" y="3429000"/>
            <a:ext cx="1828800" cy="7315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1,000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3657600" y="3429000"/>
            <a:ext cx="3657600" cy="7315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4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Distributed + Load Balancer + Replica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7315200" y="3429000"/>
            <a:ext cx="2286000" cy="7315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F86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280 TB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9601200" y="3429000"/>
            <a:ext cx="2103120" cy="7315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240,000 ฿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457200" y="4206240"/>
            <a:ext cx="11247120" cy="731520"/>
          </a:xfrm>
          <a:prstGeom prst="rect">
            <a:avLst/>
          </a:prstGeom>
          <a:solidFill>
            <a:srgbClr val="1A2030"/>
          </a:solidFill>
          <a:ln w="6350">
            <a:solidFill>
              <a:srgbClr val="232B3D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457200" y="4206240"/>
            <a:ext cx="73152" cy="731520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35" name="Text 33"/>
          <p:cNvSpPr/>
          <p:nvPr/>
        </p:nvSpPr>
        <p:spPr>
          <a:xfrm>
            <a:off x="594360" y="4206240"/>
            <a:ext cx="1188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A78BF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G4</a:t>
            </a:r>
            <a:endParaRPr lang="en-US" sz="1800" dirty="0"/>
          </a:p>
        </p:txBody>
      </p:sp>
      <p:sp>
        <p:nvSpPr>
          <p:cNvPr id="36" name="Text 34"/>
          <p:cNvSpPr/>
          <p:nvPr/>
        </p:nvSpPr>
        <p:spPr>
          <a:xfrm>
            <a:off x="1828800" y="4206240"/>
            <a:ext cx="1828800" cy="7315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2,000</a:t>
            </a:r>
            <a:endParaRPr lang="en-US" sz="1400" dirty="0"/>
          </a:p>
        </p:txBody>
      </p:sp>
      <p:sp>
        <p:nvSpPr>
          <p:cNvPr id="37" name="Text 35"/>
          <p:cNvSpPr/>
          <p:nvPr/>
        </p:nvSpPr>
        <p:spPr>
          <a:xfrm>
            <a:off x="3657600" y="4206240"/>
            <a:ext cx="3657600" cy="7315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4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Kubernetes + EMQX cluster + Patroni HA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7315200" y="4206240"/>
            <a:ext cx="2286000" cy="7315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F86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1.5 PB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9601200" y="4206240"/>
            <a:ext cx="2103120" cy="7315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A78BF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750,000 ฿</a:t>
            </a:r>
            <a:endParaRPr lang="en-US" sz="1200" dirty="0"/>
          </a:p>
        </p:txBody>
      </p:sp>
      <p:sp>
        <p:nvSpPr>
          <p:cNvPr id="40" name="Shape 38"/>
          <p:cNvSpPr/>
          <p:nvPr/>
        </p:nvSpPr>
        <p:spPr>
          <a:xfrm>
            <a:off x="457200" y="4983480"/>
            <a:ext cx="11247120" cy="731520"/>
          </a:xfrm>
          <a:prstGeom prst="rect">
            <a:avLst/>
          </a:prstGeom>
          <a:solidFill>
            <a:srgbClr val="131826"/>
          </a:solidFill>
          <a:ln w="6350">
            <a:solidFill>
              <a:srgbClr val="232B3D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457200" y="4983480"/>
            <a:ext cx="73152" cy="731520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42" name="Text 40"/>
          <p:cNvSpPr/>
          <p:nvPr/>
        </p:nvSpPr>
        <p:spPr>
          <a:xfrm>
            <a:off x="594360" y="4983480"/>
            <a:ext cx="1188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F4444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G5</a:t>
            </a:r>
            <a:endParaRPr lang="en-US" sz="1800" dirty="0"/>
          </a:p>
        </p:txBody>
      </p:sp>
      <p:sp>
        <p:nvSpPr>
          <p:cNvPr id="43" name="Text 41"/>
          <p:cNvSpPr/>
          <p:nvPr/>
        </p:nvSpPr>
        <p:spPr>
          <a:xfrm>
            <a:off x="1828800" y="4983480"/>
            <a:ext cx="1828800" cy="7315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3,000</a:t>
            </a:r>
            <a:endParaRPr lang="en-US" sz="1400" dirty="0"/>
          </a:p>
        </p:txBody>
      </p:sp>
      <p:sp>
        <p:nvSpPr>
          <p:cNvPr id="44" name="Text 42"/>
          <p:cNvSpPr/>
          <p:nvPr/>
        </p:nvSpPr>
        <p:spPr>
          <a:xfrm>
            <a:off x="3657600" y="4983480"/>
            <a:ext cx="3657600" cy="7315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4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Multi-zone + Edge Aggregation + Citus sharding</a:t>
            </a:r>
            <a:endParaRPr lang="en-US" sz="1100" dirty="0"/>
          </a:p>
        </p:txBody>
      </p:sp>
      <p:sp>
        <p:nvSpPr>
          <p:cNvPr id="45" name="Text 43"/>
          <p:cNvSpPr/>
          <p:nvPr/>
        </p:nvSpPr>
        <p:spPr>
          <a:xfrm>
            <a:off x="7315200" y="4983480"/>
            <a:ext cx="2286000" cy="7315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F86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8.5 PB</a:t>
            </a:r>
            <a:endParaRPr lang="en-US" sz="1100" dirty="0"/>
          </a:p>
        </p:txBody>
      </p:sp>
      <p:sp>
        <p:nvSpPr>
          <p:cNvPr id="46" name="Text 44"/>
          <p:cNvSpPr/>
          <p:nvPr/>
        </p:nvSpPr>
        <p:spPr>
          <a:xfrm>
            <a:off x="9601200" y="4983480"/>
            <a:ext cx="2103120" cy="7315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F4444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3,000,000 ฿</a:t>
            </a:r>
            <a:endParaRPr lang="en-US" sz="1200" dirty="0"/>
          </a:p>
        </p:txBody>
      </p:sp>
      <p:sp>
        <p:nvSpPr>
          <p:cNvPr id="47" name="Text 45"/>
          <p:cNvSpPr/>
          <p:nvPr/>
        </p:nvSpPr>
        <p:spPr>
          <a:xfrm>
            <a:off x="457200" y="603504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4A52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 ราคาคำนวณจาก hardware ใหม่ใช้งาน 5 ปี — ไม่รวมค่า support, ค่าไฟฟ้า, network bandwidth</a:t>
            </a:r>
            <a:endParaRPr lang="en-US" sz="900" dirty="0"/>
          </a:p>
        </p:txBody>
      </p:sp>
      <p:sp>
        <p:nvSpPr>
          <p:cNvPr id="48" name="Text 46"/>
          <p:cNvSpPr/>
          <p:nvPr/>
        </p:nvSpPr>
        <p:spPr>
          <a:xfrm>
            <a:off x="457200" y="653796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52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Bosch CCTV MQTT Dashboard</a:t>
            </a:r>
            <a:endParaRPr lang="en-US" sz="900" dirty="0"/>
          </a:p>
        </p:txBody>
      </p:sp>
      <p:sp>
        <p:nvSpPr>
          <p:cNvPr id="49" name="Text 47"/>
          <p:cNvSpPr/>
          <p:nvPr/>
        </p:nvSpPr>
        <p:spPr>
          <a:xfrm>
            <a:off x="11430000" y="653796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A52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900" dirty="0"/>
          </a:p>
        </p:txBody>
      </p:sp>
      <p:sp>
        <p:nvSpPr>
          <p:cNvPr id="50" name="Shape 48"/>
          <p:cNvSpPr/>
          <p:nvPr/>
        </p:nvSpPr>
        <p:spPr>
          <a:xfrm>
            <a:off x="457200" y="6492240"/>
            <a:ext cx="11247120" cy="0"/>
          </a:xfrm>
          <a:prstGeom prst="line">
            <a:avLst/>
          </a:prstGeom>
          <a:noFill/>
          <a:ln w="6350">
            <a:solidFill>
              <a:srgbClr val="232B3D"/>
            </a:solidFill>
            <a:prstDash val="solid"/>
          </a:ln>
        </p:spPr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45720"/>
          </a:xfrm>
          <a:prstGeom prst="rect">
            <a:avLst/>
          </a:prstGeom>
          <a:solidFill>
            <a:srgbClr val="5B8DEF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11247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Hardware Detail · G1 &amp; G2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57200" y="64008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7F86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Small to Mid-size deployment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57200" y="960120"/>
            <a:ext cx="457200" cy="36576"/>
          </a:xfrm>
          <a:prstGeom prst="rect">
            <a:avLst/>
          </a:prstGeom>
          <a:solidFill>
            <a:srgbClr val="5B8DEF"/>
          </a:solidFill>
          <a:ln/>
        </p:spPr>
      </p:sp>
      <p:sp>
        <p:nvSpPr>
          <p:cNvPr id="6" name="Shape 4"/>
          <p:cNvSpPr/>
          <p:nvPr/>
        </p:nvSpPr>
        <p:spPr>
          <a:xfrm>
            <a:off x="457200" y="1280160"/>
            <a:ext cx="5577840" cy="5029200"/>
          </a:xfrm>
          <a:prstGeom prst="rect">
            <a:avLst/>
          </a:prstGeom>
          <a:solidFill>
            <a:srgbClr val="131826"/>
          </a:solidFill>
          <a:ln w="12700">
            <a:solidFill>
              <a:srgbClr val="232B3D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1280160"/>
            <a:ext cx="45720" cy="5029200"/>
          </a:xfrm>
          <a:prstGeom prst="rect">
            <a:avLst/>
          </a:prstGeom>
          <a:solidFill>
            <a:srgbClr val="22C55E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1371600"/>
            <a:ext cx="914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22C55E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G1</a:t>
            </a:r>
            <a:endParaRPr lang="en-US" sz="3600" dirty="0"/>
          </a:p>
        </p:txBody>
      </p:sp>
      <p:sp>
        <p:nvSpPr>
          <p:cNvPr id="9" name="Text 7"/>
          <p:cNvSpPr/>
          <p:nvPr/>
        </p:nvSpPr>
        <p:spPr>
          <a:xfrm>
            <a:off x="1645920" y="141732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200 cameras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645920" y="173736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7F86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Small Office / Single Building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640080" y="2286000"/>
            <a:ext cx="5212080" cy="731520"/>
          </a:xfrm>
          <a:prstGeom prst="rect">
            <a:avLst/>
          </a:prstGeom>
          <a:solidFill>
            <a:srgbClr val="1A2030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0080" y="2331720"/>
            <a:ext cx="5212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🖥 1× Server (All-in-One)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40080" y="2670048"/>
            <a:ext cx="5212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7F86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Mosquitto + Node.js + PostgreSQL + Snapshot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640080" y="320040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7F8694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CPU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2011680" y="320040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4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Xeon E-2336 (6C/12T) / Ryzen 7 5800X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640080" y="370332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7F8694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RAM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2011680" y="370332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4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32 GB DDR4 ECC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640080" y="420624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7F8694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Storage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2011680" y="420624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4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500GB NVMe + 2TB SATA SSD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640080" y="470916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7F8694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Network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2011680" y="470916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4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Gbps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640080" y="521208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7F8694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OS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2011680" y="521208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4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Ubuntu 22.04 LTS Server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640080" y="5852160"/>
            <a:ext cx="5212080" cy="365760"/>
          </a:xfrm>
          <a:prstGeom prst="rect">
            <a:avLst/>
          </a:prstGeom>
          <a:solidFill>
            <a:srgbClr val="22C55E"/>
          </a:solidFill>
          <a:ln/>
        </p:spPr>
      </p:sp>
      <p:sp>
        <p:nvSpPr>
          <p:cNvPr id="25" name="Text 23"/>
          <p:cNvSpPr/>
          <p:nvPr/>
        </p:nvSpPr>
        <p:spPr>
          <a:xfrm>
            <a:off x="640080" y="5852160"/>
            <a:ext cx="5212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≈ 80,000 ฿  •  16,000 ฿/ปี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6126480" y="1280160"/>
            <a:ext cx="5577840" cy="5029200"/>
          </a:xfrm>
          <a:prstGeom prst="rect">
            <a:avLst/>
          </a:prstGeom>
          <a:solidFill>
            <a:srgbClr val="131826"/>
          </a:solidFill>
          <a:ln w="12700">
            <a:solidFill>
              <a:srgbClr val="232B3D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6126480" y="1280160"/>
            <a:ext cx="45720" cy="5029200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28" name="Text 26"/>
          <p:cNvSpPr/>
          <p:nvPr/>
        </p:nvSpPr>
        <p:spPr>
          <a:xfrm>
            <a:off x="6309360" y="1371600"/>
            <a:ext cx="914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6B6D4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G2</a:t>
            </a:r>
            <a:endParaRPr lang="en-US" sz="3600" dirty="0"/>
          </a:p>
        </p:txBody>
      </p:sp>
      <p:sp>
        <p:nvSpPr>
          <p:cNvPr id="29" name="Text 27"/>
          <p:cNvSpPr/>
          <p:nvPr/>
        </p:nvSpPr>
        <p:spPr>
          <a:xfrm>
            <a:off x="7315200" y="141732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500 cameras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7315200" y="173736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7F86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Mid-size: Hotel / Mall / Hospital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6309360" y="2286000"/>
            <a:ext cx="2468880" cy="731520"/>
          </a:xfrm>
          <a:prstGeom prst="rect">
            <a:avLst/>
          </a:prstGeom>
          <a:solidFill>
            <a:srgbClr val="1A2030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309360" y="2286000"/>
            <a:ext cx="2468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 Server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MQTT + API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8823960" y="2651760"/>
            <a:ext cx="320040" cy="0"/>
          </a:xfrm>
          <a:prstGeom prst="line">
            <a:avLst/>
          </a:prstGeom>
          <a:noFill/>
          <a:ln w="25400">
            <a:solidFill>
              <a:srgbClr val="06B6D4"/>
            </a:solidFill>
            <a:prstDash val="solid"/>
            <a:tailEnd type="triangle"/>
          </a:ln>
        </p:spPr>
      </p:sp>
      <p:sp>
        <p:nvSpPr>
          <p:cNvPr id="34" name="Shape 32"/>
          <p:cNvSpPr/>
          <p:nvPr/>
        </p:nvSpPr>
        <p:spPr>
          <a:xfrm>
            <a:off x="9144000" y="2286000"/>
            <a:ext cx="2468880" cy="731520"/>
          </a:xfrm>
          <a:prstGeom prst="rect">
            <a:avLst/>
          </a:prstGeom>
          <a:solidFill>
            <a:srgbClr val="1A2030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9144000" y="2286000"/>
            <a:ext cx="2468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DB Server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PG + Storage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6309360" y="320040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7F8694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App CPU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7863840" y="320040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4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Xeon Silver 4310 (12C/24T)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6309360" y="370332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7F8694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App RAM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7863840" y="370332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4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64 GB DDR4 ECC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6309360" y="420624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7F8694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DB CPU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7863840" y="420624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4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Xeon Silver 4310 (12C/24T)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6309360" y="470916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7F8694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DB Storage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7863840" y="470916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4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2× 1TB NVMe + 4× 4TB SATA RAID 10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6309360" y="521208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7F8694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Network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7863840" y="521208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4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2× 1 Gbps bonded</a:t>
            </a:r>
            <a:endParaRPr lang="en-US" sz="1000" dirty="0"/>
          </a:p>
        </p:txBody>
      </p:sp>
      <p:sp>
        <p:nvSpPr>
          <p:cNvPr id="46" name="Shape 44"/>
          <p:cNvSpPr/>
          <p:nvPr/>
        </p:nvSpPr>
        <p:spPr>
          <a:xfrm>
            <a:off x="6309360" y="5852160"/>
            <a:ext cx="5303520" cy="365760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47" name="Text 45"/>
          <p:cNvSpPr/>
          <p:nvPr/>
        </p:nvSpPr>
        <p:spPr>
          <a:xfrm>
            <a:off x="6309360" y="5852160"/>
            <a:ext cx="5303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≈ 240,000 ฿  •  48,000 ฿/ปี</a:t>
            </a:r>
            <a:endParaRPr lang="en-US" sz="1200" dirty="0"/>
          </a:p>
        </p:txBody>
      </p:sp>
      <p:sp>
        <p:nvSpPr>
          <p:cNvPr id="48" name="Text 46"/>
          <p:cNvSpPr/>
          <p:nvPr/>
        </p:nvSpPr>
        <p:spPr>
          <a:xfrm>
            <a:off x="457200" y="653796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52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Bosch CCTV MQTT Dashboard</a:t>
            </a:r>
            <a:endParaRPr lang="en-US" sz="900" dirty="0"/>
          </a:p>
        </p:txBody>
      </p:sp>
      <p:sp>
        <p:nvSpPr>
          <p:cNvPr id="49" name="Text 47"/>
          <p:cNvSpPr/>
          <p:nvPr/>
        </p:nvSpPr>
        <p:spPr>
          <a:xfrm>
            <a:off x="11430000" y="653796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A52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900" dirty="0"/>
          </a:p>
        </p:txBody>
      </p:sp>
      <p:sp>
        <p:nvSpPr>
          <p:cNvPr id="50" name="Shape 48"/>
          <p:cNvSpPr/>
          <p:nvPr/>
        </p:nvSpPr>
        <p:spPr>
          <a:xfrm>
            <a:off x="457200" y="6492240"/>
            <a:ext cx="11247120" cy="0"/>
          </a:xfrm>
          <a:prstGeom prst="line">
            <a:avLst/>
          </a:prstGeom>
          <a:noFill/>
          <a:ln w="6350">
            <a:solidFill>
              <a:srgbClr val="232B3D"/>
            </a:solidFill>
            <a:prstDash val="solid"/>
          </a:ln>
        </p:spPr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45720"/>
          </a:xfrm>
          <a:prstGeom prst="rect">
            <a:avLst/>
          </a:prstGeom>
          <a:solidFill>
            <a:srgbClr val="5B8DEF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11247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Hardware Detail · G3, G4, G5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57200" y="64008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7F86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Enterprise to City-scale deployment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57200" y="960120"/>
            <a:ext cx="457200" cy="36576"/>
          </a:xfrm>
          <a:prstGeom prst="rect">
            <a:avLst/>
          </a:prstGeom>
          <a:solidFill>
            <a:srgbClr val="5B8DEF"/>
          </a:solidFill>
          <a:ln/>
        </p:spPr>
      </p:sp>
      <p:sp>
        <p:nvSpPr>
          <p:cNvPr id="6" name="Shape 4"/>
          <p:cNvSpPr/>
          <p:nvPr/>
        </p:nvSpPr>
        <p:spPr>
          <a:xfrm>
            <a:off x="457200" y="1280160"/>
            <a:ext cx="3657600" cy="5029200"/>
          </a:xfrm>
          <a:prstGeom prst="rect">
            <a:avLst/>
          </a:prstGeom>
          <a:solidFill>
            <a:srgbClr val="131826"/>
          </a:solidFill>
          <a:ln w="12700">
            <a:solidFill>
              <a:srgbClr val="232B3D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1280160"/>
            <a:ext cx="45720" cy="502920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8" name="Shape 6"/>
          <p:cNvSpPr/>
          <p:nvPr/>
        </p:nvSpPr>
        <p:spPr>
          <a:xfrm>
            <a:off x="457200" y="1325880"/>
            <a:ext cx="3657600" cy="118872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" y="1371600"/>
            <a:ext cx="1371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G3</a:t>
            </a:r>
            <a:endParaRPr lang="en-US" sz="3600" dirty="0"/>
          </a:p>
        </p:txBody>
      </p:sp>
      <p:sp>
        <p:nvSpPr>
          <p:cNvPr id="10" name="Text 8"/>
          <p:cNvSpPr/>
          <p:nvPr/>
        </p:nvSpPr>
        <p:spPr>
          <a:xfrm>
            <a:off x="2011680" y="146304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1,000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2011680" y="182880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cameras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640080" y="214884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Distributed + Load Balancer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640080" y="2697480"/>
            <a:ext cx="338328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000" dirty="0">
                <a:solidFill>
                  <a:srgbClr val="E4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1× MQTT Broker (Xeon Silver 4316, 32GB)</a:t>
            </a:r>
            <a:endParaRPr lang="en-US" sz="10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000" dirty="0">
                <a:solidFill>
                  <a:srgbClr val="E4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2× App Server (Xeon Silver, 64GB each)</a:t>
            </a:r>
            <a:endParaRPr lang="en-US" sz="10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000" dirty="0">
                <a:solidFill>
                  <a:srgbClr val="E4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2× PostgreSQL (Master + Replica, 128GB each)</a:t>
            </a:r>
            <a:endParaRPr lang="en-US" sz="10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000" dirty="0">
                <a:solidFill>
                  <a:srgbClr val="E4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4× MinIO Object Storage nodes</a:t>
            </a:r>
            <a:endParaRPr lang="en-US" sz="10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000" dirty="0">
                <a:solidFill>
                  <a:srgbClr val="E4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TimescaleDB extension + PgBouncer + Redis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57200" y="5760720"/>
            <a:ext cx="3657600" cy="548640"/>
          </a:xfrm>
          <a:prstGeom prst="rect">
            <a:avLst/>
          </a:prstGeom>
          <a:solidFill>
            <a:srgbClr val="1A2030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7200" y="5760720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59E0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≈ 1,200,000 ฿  •  240,000 ฿/ปี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297680" y="1280160"/>
            <a:ext cx="3657600" cy="5029200"/>
          </a:xfrm>
          <a:prstGeom prst="rect">
            <a:avLst/>
          </a:prstGeom>
          <a:solidFill>
            <a:srgbClr val="131826"/>
          </a:solidFill>
          <a:ln w="12700">
            <a:solidFill>
              <a:srgbClr val="232B3D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297680" y="1280160"/>
            <a:ext cx="45720" cy="5029200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18" name="Shape 16"/>
          <p:cNvSpPr/>
          <p:nvPr/>
        </p:nvSpPr>
        <p:spPr>
          <a:xfrm>
            <a:off x="4297680" y="1325880"/>
            <a:ext cx="3657600" cy="1188720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19" name="Text 17"/>
          <p:cNvSpPr/>
          <p:nvPr/>
        </p:nvSpPr>
        <p:spPr>
          <a:xfrm>
            <a:off x="4480560" y="1371600"/>
            <a:ext cx="1371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G4</a:t>
            </a:r>
            <a:endParaRPr lang="en-US" sz="3600" dirty="0"/>
          </a:p>
        </p:txBody>
      </p:sp>
      <p:sp>
        <p:nvSpPr>
          <p:cNvPr id="20" name="Text 18"/>
          <p:cNvSpPr/>
          <p:nvPr/>
        </p:nvSpPr>
        <p:spPr>
          <a:xfrm>
            <a:off x="5852160" y="146304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2,000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5852160" y="182880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cameras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4480560" y="214884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Kubernetes + EMQX + Patroni HA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4480560" y="2697480"/>
            <a:ext cx="338328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000" dirty="0">
                <a:solidFill>
                  <a:srgbClr val="E4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6× K8s Worker (Xeon Gold 6338, 256GB each)</a:t>
            </a:r>
            <a:endParaRPr lang="en-US" sz="10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000" dirty="0">
                <a:solidFill>
                  <a:srgbClr val="E4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3× EMQX MQTT cluster</a:t>
            </a:r>
            <a:endParaRPr lang="en-US" sz="10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000" dirty="0">
                <a:solidFill>
                  <a:srgbClr val="E4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3× PostgreSQL Patroni HA + TimescaleDB</a:t>
            </a:r>
            <a:endParaRPr lang="en-US" sz="10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000" dirty="0">
                <a:solidFill>
                  <a:srgbClr val="E4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8× MinIO Cluster (Erasure Coding)</a:t>
            </a:r>
            <a:endParaRPr lang="en-US" sz="10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000" dirty="0">
                <a:solidFill>
                  <a:srgbClr val="E4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Prometheus + Grafana + Loki monitoring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297680" y="5760720"/>
            <a:ext cx="3657600" cy="548640"/>
          </a:xfrm>
          <a:prstGeom prst="rect">
            <a:avLst/>
          </a:prstGeom>
          <a:solidFill>
            <a:srgbClr val="1A2030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297680" y="5760720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A78BF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≈ 3,500,000 ฿  •  750,000 ฿/ปี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8138160" y="1280160"/>
            <a:ext cx="3657600" cy="5029200"/>
          </a:xfrm>
          <a:prstGeom prst="rect">
            <a:avLst/>
          </a:prstGeom>
          <a:solidFill>
            <a:srgbClr val="131826"/>
          </a:solidFill>
          <a:ln w="12700">
            <a:solidFill>
              <a:srgbClr val="232B3D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8138160" y="1280160"/>
            <a:ext cx="45720" cy="5029200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28" name="Shape 26"/>
          <p:cNvSpPr/>
          <p:nvPr/>
        </p:nvSpPr>
        <p:spPr>
          <a:xfrm>
            <a:off x="8138160" y="1325880"/>
            <a:ext cx="3657600" cy="1188720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29" name="Text 27"/>
          <p:cNvSpPr/>
          <p:nvPr/>
        </p:nvSpPr>
        <p:spPr>
          <a:xfrm>
            <a:off x="8321040" y="1371600"/>
            <a:ext cx="1371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G5</a:t>
            </a:r>
            <a:endParaRPr lang="en-US" sz="3600" dirty="0"/>
          </a:p>
        </p:txBody>
      </p:sp>
      <p:sp>
        <p:nvSpPr>
          <p:cNvPr id="30" name="Text 28"/>
          <p:cNvSpPr/>
          <p:nvPr/>
        </p:nvSpPr>
        <p:spPr>
          <a:xfrm>
            <a:off x="9692640" y="146304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3,000+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9692640" y="182880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cameras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8321040" y="214884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Multi-zone + Edge Aggregation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8321040" y="2697480"/>
            <a:ext cx="338328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000" dirty="0">
                <a:solidFill>
                  <a:srgbClr val="E4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3× Edge Aggregator (per zone)</a:t>
            </a:r>
            <a:endParaRPr lang="en-US" sz="10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000" dirty="0">
                <a:solidFill>
                  <a:srgbClr val="E4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12× K8s Workers (Xeon Platinum 8358, 512GB)</a:t>
            </a:r>
            <a:endParaRPr lang="en-US" sz="10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000" dirty="0">
                <a:solidFill>
                  <a:srgbClr val="E4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5× EMQX cluster + 5× Kafka brokers</a:t>
            </a:r>
            <a:endParaRPr lang="en-US" sz="10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000" dirty="0">
                <a:solidFill>
                  <a:srgbClr val="E4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Citus sharded PostgreSQL (5 shards)</a:t>
            </a:r>
            <a:endParaRPr lang="en-US" sz="10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000" dirty="0">
                <a:solidFill>
                  <a:srgbClr val="E4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16× MinIO nodes + 24/7 SOC monitoring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8138160" y="5760720"/>
            <a:ext cx="3657600" cy="548640"/>
          </a:xfrm>
          <a:prstGeom prst="rect">
            <a:avLst/>
          </a:prstGeom>
          <a:solidFill>
            <a:srgbClr val="1A2030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8138160" y="5760720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F4444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≈ 12,000,000+ ฿  •  3,000,000 ฿/ปี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457200" y="653796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52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Bosch CCTV MQTT Dashboard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11430000" y="653796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A52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457200" y="6492240"/>
            <a:ext cx="11247120" cy="0"/>
          </a:xfrm>
          <a:prstGeom prst="line">
            <a:avLst/>
          </a:prstGeom>
          <a:noFill/>
          <a:ln w="6350">
            <a:solidFill>
              <a:srgbClr val="232B3D"/>
            </a:solidFill>
            <a:prstDash val="solid"/>
          </a:ln>
        </p:spPr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45720"/>
          </a:xfrm>
          <a:prstGeom prst="rect">
            <a:avLst/>
          </a:prstGeom>
          <a:solidFill>
            <a:srgbClr val="5B8DEF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11247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Database Schema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57200" y="64008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7F86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Time-series oriented design พร้อม retention policy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57200" y="960120"/>
            <a:ext cx="457200" cy="36576"/>
          </a:xfrm>
          <a:prstGeom prst="rect">
            <a:avLst/>
          </a:prstGeom>
          <a:solidFill>
            <a:srgbClr val="5B8DEF"/>
          </a:solidFill>
          <a:ln/>
        </p:spPr>
      </p:sp>
      <p:sp>
        <p:nvSpPr>
          <p:cNvPr id="6" name="Shape 4"/>
          <p:cNvSpPr/>
          <p:nvPr/>
        </p:nvSpPr>
        <p:spPr>
          <a:xfrm>
            <a:off x="457200" y="1371600"/>
            <a:ext cx="3657600" cy="457200"/>
          </a:xfrm>
          <a:prstGeom prst="rect">
            <a:avLst/>
          </a:prstGeom>
          <a:solidFill>
            <a:srgbClr val="5B8DEF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137160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cameras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57200" y="1828800"/>
            <a:ext cx="3657600" cy="2331720"/>
          </a:xfrm>
          <a:prstGeom prst="rect">
            <a:avLst/>
          </a:prstGeom>
          <a:solidFill>
            <a:srgbClr val="131826"/>
          </a:solidFill>
          <a:ln w="12700">
            <a:solidFill>
              <a:srgbClr val="5B8DE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94360" y="187452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4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camera_id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2468880" y="1874520"/>
            <a:ext cx="15361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7F86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VARCHAR PK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594360" y="21945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4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camera_name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2468880" y="2194560"/>
            <a:ext cx="15361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7F86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VARCHAR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94360" y="251460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4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ip_address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2468880" y="2514600"/>
            <a:ext cx="15361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7F86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INET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594360" y="283464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4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status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2468880" y="2834640"/>
            <a:ext cx="15361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7F86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ENUM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594360" y="315468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4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latitude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2468880" y="3154680"/>
            <a:ext cx="15361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7F86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NUMERIC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94360" y="347472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4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longitude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2468880" y="3474720"/>
            <a:ext cx="15361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7F86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NUMERIC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594360" y="37947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4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last_seen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2468880" y="3794760"/>
            <a:ext cx="15361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7F86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TIMESTAMPTZ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4572000" y="1371600"/>
            <a:ext cx="3657600" cy="457200"/>
          </a:xfrm>
          <a:prstGeom prst="rect">
            <a:avLst/>
          </a:prstGeom>
          <a:solidFill>
            <a:srgbClr val="22C55E"/>
          </a:solidFill>
          <a:ln/>
        </p:spPr>
      </p:sp>
      <p:sp>
        <p:nvSpPr>
          <p:cNvPr id="24" name="Text 22"/>
          <p:cNvSpPr/>
          <p:nvPr/>
        </p:nvSpPr>
        <p:spPr>
          <a:xfrm>
            <a:off x="4572000" y="137160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events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4572000" y="1828800"/>
            <a:ext cx="3657600" cy="2651760"/>
          </a:xfrm>
          <a:prstGeom prst="rect">
            <a:avLst/>
          </a:prstGeom>
          <a:solidFill>
            <a:srgbClr val="131826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709160" y="187452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4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6583680" y="1874520"/>
            <a:ext cx="15361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7F86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BIGSERIAL PK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4709160" y="21945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4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camera_id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6583680" y="2194560"/>
            <a:ext cx="15361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7F86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VARCHAR FK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4709160" y="251460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4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event_time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6583680" y="2514600"/>
            <a:ext cx="15361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7F86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TIMESTAMPTZ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4709160" y="283464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4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event_type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6583680" y="2834640"/>
            <a:ext cx="15361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7F86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VARCHAR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4709160" y="315468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4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rule_name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6583680" y="3154680"/>
            <a:ext cx="15361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7F86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VARCHAR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4709160" y="347472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4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object_class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6583680" y="3474720"/>
            <a:ext cx="15361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7F86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VARCHAR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4709160" y="37947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4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likelihood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6583680" y="3794760"/>
            <a:ext cx="15361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7F86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FLOAT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4709160" y="411480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4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raw_json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6583680" y="4114800"/>
            <a:ext cx="15361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7F86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JSONB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8686800" y="1371600"/>
            <a:ext cx="3017520" cy="45720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3" name="Text 41"/>
          <p:cNvSpPr/>
          <p:nvPr/>
        </p:nvSpPr>
        <p:spPr>
          <a:xfrm>
            <a:off x="8686800" y="137160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appearances / license_plates</a:t>
            </a:r>
            <a:endParaRPr lang="en-US" sz="1300" dirty="0"/>
          </a:p>
        </p:txBody>
      </p:sp>
      <p:sp>
        <p:nvSpPr>
          <p:cNvPr id="44" name="Shape 42"/>
          <p:cNvSpPr/>
          <p:nvPr/>
        </p:nvSpPr>
        <p:spPr>
          <a:xfrm>
            <a:off x="8686800" y="1828800"/>
            <a:ext cx="3017520" cy="2011680"/>
          </a:xfrm>
          <a:prstGeom prst="rect">
            <a:avLst/>
          </a:prstGeom>
          <a:solidFill>
            <a:srgbClr val="131826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8823960" y="1874520"/>
            <a:ext cx="16596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4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</a:t>
            </a:r>
            <a:endParaRPr lang="en-US" sz="1000" dirty="0"/>
          </a:p>
        </p:txBody>
      </p:sp>
      <p:sp>
        <p:nvSpPr>
          <p:cNvPr id="46" name="Text 44"/>
          <p:cNvSpPr/>
          <p:nvPr/>
        </p:nvSpPr>
        <p:spPr>
          <a:xfrm>
            <a:off x="10346436" y="1874520"/>
            <a:ext cx="126735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7F86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BIGSERIAL PK</a:t>
            </a:r>
            <a:endParaRPr lang="en-US" sz="900" dirty="0"/>
          </a:p>
        </p:txBody>
      </p:sp>
      <p:sp>
        <p:nvSpPr>
          <p:cNvPr id="47" name="Text 45"/>
          <p:cNvSpPr/>
          <p:nvPr/>
        </p:nvSpPr>
        <p:spPr>
          <a:xfrm>
            <a:off x="8823960" y="2194560"/>
            <a:ext cx="16596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4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event_id</a:t>
            </a:r>
            <a:endParaRPr lang="en-US" sz="1000" dirty="0"/>
          </a:p>
        </p:txBody>
      </p:sp>
      <p:sp>
        <p:nvSpPr>
          <p:cNvPr id="48" name="Text 46"/>
          <p:cNvSpPr/>
          <p:nvPr/>
        </p:nvSpPr>
        <p:spPr>
          <a:xfrm>
            <a:off x="10346436" y="2194560"/>
            <a:ext cx="126735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7F86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BIGINT FK</a:t>
            </a:r>
            <a:endParaRPr lang="en-US" sz="900" dirty="0"/>
          </a:p>
        </p:txBody>
      </p:sp>
      <p:sp>
        <p:nvSpPr>
          <p:cNvPr id="49" name="Text 47"/>
          <p:cNvSpPr/>
          <p:nvPr/>
        </p:nvSpPr>
        <p:spPr>
          <a:xfrm>
            <a:off x="8823960" y="2514600"/>
            <a:ext cx="16596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4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camera_id</a:t>
            </a:r>
            <a:endParaRPr lang="en-US" sz="1000" dirty="0"/>
          </a:p>
        </p:txBody>
      </p:sp>
      <p:sp>
        <p:nvSpPr>
          <p:cNvPr id="50" name="Text 48"/>
          <p:cNvSpPr/>
          <p:nvPr/>
        </p:nvSpPr>
        <p:spPr>
          <a:xfrm>
            <a:off x="10346436" y="2514600"/>
            <a:ext cx="126735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7F86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VARCHAR</a:t>
            </a:r>
            <a:endParaRPr lang="en-US" sz="900" dirty="0"/>
          </a:p>
        </p:txBody>
      </p:sp>
      <p:sp>
        <p:nvSpPr>
          <p:cNvPr id="51" name="Text 49"/>
          <p:cNvSpPr/>
          <p:nvPr/>
        </p:nvSpPr>
        <p:spPr>
          <a:xfrm>
            <a:off x="8823960" y="2834640"/>
            <a:ext cx="16596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4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object_id</a:t>
            </a:r>
            <a:endParaRPr lang="en-US" sz="1000" dirty="0"/>
          </a:p>
        </p:txBody>
      </p:sp>
      <p:sp>
        <p:nvSpPr>
          <p:cNvPr id="52" name="Text 50"/>
          <p:cNvSpPr/>
          <p:nvPr/>
        </p:nvSpPr>
        <p:spPr>
          <a:xfrm>
            <a:off x="10346436" y="2834640"/>
            <a:ext cx="126735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7F86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VARCHAR</a:t>
            </a:r>
            <a:endParaRPr lang="en-US" sz="900" dirty="0"/>
          </a:p>
        </p:txBody>
      </p:sp>
      <p:sp>
        <p:nvSpPr>
          <p:cNvPr id="53" name="Text 51"/>
          <p:cNvSpPr/>
          <p:nvPr/>
        </p:nvSpPr>
        <p:spPr>
          <a:xfrm>
            <a:off x="8823960" y="3154680"/>
            <a:ext cx="16596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4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plate_number</a:t>
            </a:r>
            <a:endParaRPr lang="en-US" sz="1000" dirty="0"/>
          </a:p>
        </p:txBody>
      </p:sp>
      <p:sp>
        <p:nvSpPr>
          <p:cNvPr id="54" name="Text 52"/>
          <p:cNvSpPr/>
          <p:nvPr/>
        </p:nvSpPr>
        <p:spPr>
          <a:xfrm>
            <a:off x="10346436" y="3154680"/>
            <a:ext cx="126735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7F86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VARCHAR</a:t>
            </a:r>
            <a:endParaRPr lang="en-US" sz="900" dirty="0"/>
          </a:p>
        </p:txBody>
      </p:sp>
      <p:sp>
        <p:nvSpPr>
          <p:cNvPr id="55" name="Text 53"/>
          <p:cNvSpPr/>
          <p:nvPr/>
        </p:nvSpPr>
        <p:spPr>
          <a:xfrm>
            <a:off x="8823960" y="3474720"/>
            <a:ext cx="16596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4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snapshot_b64</a:t>
            </a:r>
            <a:endParaRPr lang="en-US" sz="1000" dirty="0"/>
          </a:p>
        </p:txBody>
      </p:sp>
      <p:sp>
        <p:nvSpPr>
          <p:cNvPr id="56" name="Text 54"/>
          <p:cNvSpPr/>
          <p:nvPr/>
        </p:nvSpPr>
        <p:spPr>
          <a:xfrm>
            <a:off x="10346436" y="3474720"/>
            <a:ext cx="126735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7F86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TEXT (filename)</a:t>
            </a:r>
            <a:endParaRPr lang="en-US" sz="900" dirty="0"/>
          </a:p>
        </p:txBody>
      </p:sp>
      <p:sp>
        <p:nvSpPr>
          <p:cNvPr id="57" name="Shape 55"/>
          <p:cNvSpPr/>
          <p:nvPr/>
        </p:nvSpPr>
        <p:spPr>
          <a:xfrm>
            <a:off x="457200" y="4572000"/>
            <a:ext cx="5486400" cy="777240"/>
          </a:xfrm>
          <a:prstGeom prst="rect">
            <a:avLst/>
          </a:prstGeom>
          <a:solidFill>
            <a:srgbClr val="131826"/>
          </a:solidFill>
          <a:ln w="12700">
            <a:solidFill>
              <a:srgbClr val="232B3D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594360" y="457200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🔥</a:t>
            </a:r>
            <a:endParaRPr lang="en-US" sz="2200" dirty="0"/>
          </a:p>
        </p:txBody>
      </p:sp>
      <p:sp>
        <p:nvSpPr>
          <p:cNvPr id="59" name="Text 57"/>
          <p:cNvSpPr/>
          <p:nvPr/>
        </p:nvSpPr>
        <p:spPr>
          <a:xfrm>
            <a:off x="1234440" y="466344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TimescaleDB</a:t>
            </a:r>
            <a:endParaRPr lang="en-US" sz="1200" dirty="0"/>
          </a:p>
        </p:txBody>
      </p:sp>
      <p:sp>
        <p:nvSpPr>
          <p:cNvPr id="60" name="Text 58"/>
          <p:cNvSpPr/>
          <p:nvPr/>
        </p:nvSpPr>
        <p:spPr>
          <a:xfrm>
            <a:off x="1234440" y="49834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F86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events table → hypertable, partitioned by time</a:t>
            </a:r>
            <a:endParaRPr lang="en-US" sz="1000" dirty="0"/>
          </a:p>
        </p:txBody>
      </p:sp>
      <p:sp>
        <p:nvSpPr>
          <p:cNvPr id="61" name="Shape 59"/>
          <p:cNvSpPr/>
          <p:nvPr/>
        </p:nvSpPr>
        <p:spPr>
          <a:xfrm>
            <a:off x="6217920" y="4572000"/>
            <a:ext cx="5486400" cy="777240"/>
          </a:xfrm>
          <a:prstGeom prst="rect">
            <a:avLst/>
          </a:prstGeom>
          <a:solidFill>
            <a:srgbClr val="131826"/>
          </a:solidFill>
          <a:ln w="12700">
            <a:solidFill>
              <a:srgbClr val="232B3D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6355080" y="457200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💾</a:t>
            </a:r>
            <a:endParaRPr lang="en-US" sz="2200" dirty="0"/>
          </a:p>
        </p:txBody>
      </p:sp>
      <p:sp>
        <p:nvSpPr>
          <p:cNvPr id="63" name="Text 61"/>
          <p:cNvSpPr/>
          <p:nvPr/>
        </p:nvSpPr>
        <p:spPr>
          <a:xfrm>
            <a:off x="6995160" y="466344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JSONB Compression</a:t>
            </a:r>
            <a:endParaRPr lang="en-US" sz="1200" dirty="0"/>
          </a:p>
        </p:txBody>
      </p:sp>
      <p:sp>
        <p:nvSpPr>
          <p:cNvPr id="64" name="Text 62"/>
          <p:cNvSpPr/>
          <p:nvPr/>
        </p:nvSpPr>
        <p:spPr>
          <a:xfrm>
            <a:off x="6995160" y="49834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F86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raw_json strip base64 → ลด DB ~99%</a:t>
            </a:r>
            <a:endParaRPr lang="en-US" sz="1000" dirty="0"/>
          </a:p>
        </p:txBody>
      </p:sp>
      <p:sp>
        <p:nvSpPr>
          <p:cNvPr id="65" name="Shape 63"/>
          <p:cNvSpPr/>
          <p:nvPr/>
        </p:nvSpPr>
        <p:spPr>
          <a:xfrm>
            <a:off x="457200" y="5440680"/>
            <a:ext cx="5486400" cy="777240"/>
          </a:xfrm>
          <a:prstGeom prst="rect">
            <a:avLst/>
          </a:prstGeom>
          <a:solidFill>
            <a:srgbClr val="131826"/>
          </a:solidFill>
          <a:ln w="12700">
            <a:solidFill>
              <a:srgbClr val="232B3D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594360" y="544068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🗑</a:t>
            </a:r>
            <a:endParaRPr lang="en-US" sz="2200" dirty="0"/>
          </a:p>
        </p:txBody>
      </p:sp>
      <p:sp>
        <p:nvSpPr>
          <p:cNvPr id="67" name="Text 65"/>
          <p:cNvSpPr/>
          <p:nvPr/>
        </p:nvSpPr>
        <p:spPr>
          <a:xfrm>
            <a:off x="1234440" y="553212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Retention Policy</a:t>
            </a:r>
            <a:endParaRPr lang="en-US" sz="1200" dirty="0"/>
          </a:p>
        </p:txBody>
      </p:sp>
      <p:sp>
        <p:nvSpPr>
          <p:cNvPr id="68" name="Text 66"/>
          <p:cNvSpPr/>
          <p:nvPr/>
        </p:nvSpPr>
        <p:spPr>
          <a:xfrm>
            <a:off x="1234440" y="585216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F86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Auto-delete events &gt; 30 days, snapshots &gt; 90 days</a:t>
            </a:r>
            <a:endParaRPr lang="en-US" sz="1000" dirty="0"/>
          </a:p>
        </p:txBody>
      </p:sp>
      <p:sp>
        <p:nvSpPr>
          <p:cNvPr id="69" name="Shape 67"/>
          <p:cNvSpPr/>
          <p:nvPr/>
        </p:nvSpPr>
        <p:spPr>
          <a:xfrm>
            <a:off x="6217920" y="5440680"/>
            <a:ext cx="5486400" cy="777240"/>
          </a:xfrm>
          <a:prstGeom prst="rect">
            <a:avLst/>
          </a:prstGeom>
          <a:solidFill>
            <a:srgbClr val="131826"/>
          </a:solidFill>
          <a:ln w="12700">
            <a:solidFill>
              <a:srgbClr val="232B3D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6355080" y="544068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🚀</a:t>
            </a:r>
            <a:endParaRPr lang="en-US" sz="2200" dirty="0"/>
          </a:p>
        </p:txBody>
      </p:sp>
      <p:sp>
        <p:nvSpPr>
          <p:cNvPr id="71" name="Text 69"/>
          <p:cNvSpPr/>
          <p:nvPr/>
        </p:nvSpPr>
        <p:spPr>
          <a:xfrm>
            <a:off x="6995160" y="553212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Indexes</a:t>
            </a:r>
            <a:endParaRPr lang="en-US" sz="1200" dirty="0"/>
          </a:p>
        </p:txBody>
      </p:sp>
      <p:sp>
        <p:nvSpPr>
          <p:cNvPr id="72" name="Text 70"/>
          <p:cNvSpPr/>
          <p:nvPr/>
        </p:nvSpPr>
        <p:spPr>
          <a:xfrm>
            <a:off x="6995160" y="585216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F86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(camera_id, event_time DESC), (rule_name) BTREE</a:t>
            </a:r>
            <a:endParaRPr lang="en-US" sz="1000" dirty="0"/>
          </a:p>
        </p:txBody>
      </p:sp>
      <p:sp>
        <p:nvSpPr>
          <p:cNvPr id="73" name="Text 71"/>
          <p:cNvSpPr/>
          <p:nvPr/>
        </p:nvSpPr>
        <p:spPr>
          <a:xfrm>
            <a:off x="457200" y="653796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52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Bosch CCTV MQTT Dashboard</a:t>
            </a:r>
            <a:endParaRPr lang="en-US" sz="900" dirty="0"/>
          </a:p>
        </p:txBody>
      </p:sp>
      <p:sp>
        <p:nvSpPr>
          <p:cNvPr id="74" name="Text 72"/>
          <p:cNvSpPr/>
          <p:nvPr/>
        </p:nvSpPr>
        <p:spPr>
          <a:xfrm>
            <a:off x="11430000" y="653796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A52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900" dirty="0"/>
          </a:p>
        </p:txBody>
      </p:sp>
      <p:sp>
        <p:nvSpPr>
          <p:cNvPr id="75" name="Shape 73"/>
          <p:cNvSpPr/>
          <p:nvPr/>
        </p:nvSpPr>
        <p:spPr>
          <a:xfrm>
            <a:off x="457200" y="6492240"/>
            <a:ext cx="11247120" cy="0"/>
          </a:xfrm>
          <a:prstGeom prst="line">
            <a:avLst/>
          </a:prstGeom>
          <a:noFill/>
          <a:ln w="6350">
            <a:solidFill>
              <a:srgbClr val="232B3D"/>
            </a:solidFill>
            <a:prstDash val="solid"/>
          </a:ln>
        </p:spPr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45720"/>
          </a:xfrm>
          <a:prstGeom prst="rect">
            <a:avLst/>
          </a:prstGeom>
          <a:solidFill>
            <a:srgbClr val="5B8DEF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11247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Security &amp; Reliability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57200" y="64008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7F86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มาตรการความปลอดภัยและความเชื่อถือได้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57200" y="960120"/>
            <a:ext cx="457200" cy="36576"/>
          </a:xfrm>
          <a:prstGeom prst="rect">
            <a:avLst/>
          </a:prstGeom>
          <a:solidFill>
            <a:srgbClr val="5B8DEF"/>
          </a:solidFill>
          <a:ln/>
        </p:spPr>
      </p:sp>
      <p:sp>
        <p:nvSpPr>
          <p:cNvPr id="6" name="Shape 4"/>
          <p:cNvSpPr/>
          <p:nvPr/>
        </p:nvSpPr>
        <p:spPr>
          <a:xfrm>
            <a:off x="457200" y="1280160"/>
            <a:ext cx="3657600" cy="5029200"/>
          </a:xfrm>
          <a:prstGeom prst="rect">
            <a:avLst/>
          </a:prstGeom>
          <a:solidFill>
            <a:srgbClr val="131826"/>
          </a:solidFill>
          <a:ln w="12700">
            <a:solidFill>
              <a:srgbClr val="232B3D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1280160"/>
            <a:ext cx="45720" cy="5029200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1463040"/>
            <a:ext cx="3383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EF4444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🔒 SECURITY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40080" y="2057400"/>
            <a:ext cx="36576" cy="777240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10" name="Text 8"/>
          <p:cNvSpPr/>
          <p:nvPr/>
        </p:nvSpPr>
        <p:spPr>
          <a:xfrm>
            <a:off x="777240" y="205740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TLS Encryption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777240" y="2350008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7F86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MQTT broker + DB connections + API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640080" y="2926080"/>
            <a:ext cx="36576" cy="777240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13" name="Text 11"/>
          <p:cNvSpPr/>
          <p:nvPr/>
        </p:nvSpPr>
        <p:spPr>
          <a:xfrm>
            <a:off x="777240" y="292608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Network Segmentation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777240" y="3218688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7F86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VLAN แยก camera/server/management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640080" y="3794760"/>
            <a:ext cx="36576" cy="777240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16" name="Text 14"/>
          <p:cNvSpPr/>
          <p:nvPr/>
        </p:nvSpPr>
        <p:spPr>
          <a:xfrm>
            <a:off x="777240" y="379476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Authentication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777240" y="4087368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7F86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Camera Basic Auth + JWT for API (optional)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640080" y="4663440"/>
            <a:ext cx="36576" cy="777240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19" name="Text 17"/>
          <p:cNvSpPr/>
          <p:nvPr/>
        </p:nvSpPr>
        <p:spPr>
          <a:xfrm>
            <a:off x="777240" y="466344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Secrets Management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777240" y="4956048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7F86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Environment vars, no hardcoded credentials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640080" y="5532120"/>
            <a:ext cx="36576" cy="777240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22" name="Text 20"/>
          <p:cNvSpPr/>
          <p:nvPr/>
        </p:nvSpPr>
        <p:spPr>
          <a:xfrm>
            <a:off x="777240" y="553212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Audit Logs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777240" y="5824728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7F86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ทุก config change ถูกบันทึก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4297680" y="1280160"/>
            <a:ext cx="3657600" cy="5029200"/>
          </a:xfrm>
          <a:prstGeom prst="rect">
            <a:avLst/>
          </a:prstGeom>
          <a:solidFill>
            <a:srgbClr val="131826"/>
          </a:solidFill>
          <a:ln w="12700">
            <a:solidFill>
              <a:srgbClr val="232B3D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297680" y="1280160"/>
            <a:ext cx="45720" cy="5029200"/>
          </a:xfrm>
          <a:prstGeom prst="rect">
            <a:avLst/>
          </a:prstGeom>
          <a:solidFill>
            <a:srgbClr val="22C55E"/>
          </a:solidFill>
          <a:ln/>
        </p:spPr>
      </p:sp>
      <p:sp>
        <p:nvSpPr>
          <p:cNvPr id="26" name="Text 24"/>
          <p:cNvSpPr/>
          <p:nvPr/>
        </p:nvSpPr>
        <p:spPr>
          <a:xfrm>
            <a:off x="4480560" y="1463040"/>
            <a:ext cx="3383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22C55E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♻ RELIABILITY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4480560" y="2057400"/>
            <a:ext cx="36576" cy="777240"/>
          </a:xfrm>
          <a:prstGeom prst="rect">
            <a:avLst/>
          </a:prstGeom>
          <a:solidFill>
            <a:srgbClr val="22C55E"/>
          </a:solidFill>
          <a:ln/>
        </p:spPr>
      </p:sp>
      <p:sp>
        <p:nvSpPr>
          <p:cNvPr id="28" name="Text 26"/>
          <p:cNvSpPr/>
          <p:nvPr/>
        </p:nvSpPr>
        <p:spPr>
          <a:xfrm>
            <a:off x="4617720" y="205740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High Availability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4617720" y="2350008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7F86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PostgreSQL Patroni (G4+), MQTT cluster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4480560" y="2926080"/>
            <a:ext cx="36576" cy="777240"/>
          </a:xfrm>
          <a:prstGeom prst="rect">
            <a:avLst/>
          </a:prstGeom>
          <a:solidFill>
            <a:srgbClr val="22C55E"/>
          </a:solidFill>
          <a:ln/>
        </p:spPr>
      </p:sp>
      <p:sp>
        <p:nvSpPr>
          <p:cNvPr id="31" name="Text 29"/>
          <p:cNvSpPr/>
          <p:nvPr/>
        </p:nvSpPr>
        <p:spPr>
          <a:xfrm>
            <a:off x="4617720" y="292608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Disaster Recovery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4617720" y="3218688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7F86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Daily snapshot + offsite replica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4480560" y="3794760"/>
            <a:ext cx="36576" cy="777240"/>
          </a:xfrm>
          <a:prstGeom prst="rect">
            <a:avLst/>
          </a:prstGeom>
          <a:solidFill>
            <a:srgbClr val="22C55E"/>
          </a:solidFill>
          <a:ln/>
        </p:spPr>
      </p:sp>
      <p:sp>
        <p:nvSpPr>
          <p:cNvPr id="34" name="Text 32"/>
          <p:cNvSpPr/>
          <p:nvPr/>
        </p:nvSpPr>
        <p:spPr>
          <a:xfrm>
            <a:off x="4617720" y="379476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Auto-recovery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4617720" y="4087368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7F86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Subscriber auto-reconnect on broker disconnect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4480560" y="4663440"/>
            <a:ext cx="36576" cy="777240"/>
          </a:xfrm>
          <a:prstGeom prst="rect">
            <a:avLst/>
          </a:prstGeom>
          <a:solidFill>
            <a:srgbClr val="22C55E"/>
          </a:solidFill>
          <a:ln/>
        </p:spPr>
      </p:sp>
      <p:sp>
        <p:nvSpPr>
          <p:cNvPr id="37" name="Text 35"/>
          <p:cNvSpPr/>
          <p:nvPr/>
        </p:nvSpPr>
        <p:spPr>
          <a:xfrm>
            <a:off x="4617720" y="466344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Health Checks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4617720" y="4956048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7F86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Camera last_seen heartbeat monitoring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4480560" y="5532120"/>
            <a:ext cx="36576" cy="777240"/>
          </a:xfrm>
          <a:prstGeom prst="rect">
            <a:avLst/>
          </a:prstGeom>
          <a:solidFill>
            <a:srgbClr val="22C55E"/>
          </a:solidFill>
          <a:ln/>
        </p:spPr>
      </p:sp>
      <p:sp>
        <p:nvSpPr>
          <p:cNvPr id="40" name="Text 38"/>
          <p:cNvSpPr/>
          <p:nvPr/>
        </p:nvSpPr>
        <p:spPr>
          <a:xfrm>
            <a:off x="4617720" y="553212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Backup Strategy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4617720" y="5824728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7F86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PG_dump nightly + S3 versioned snapshots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8138160" y="1280160"/>
            <a:ext cx="3657600" cy="5029200"/>
          </a:xfrm>
          <a:prstGeom prst="rect">
            <a:avLst/>
          </a:prstGeom>
          <a:solidFill>
            <a:srgbClr val="131826"/>
          </a:solidFill>
          <a:ln w="12700">
            <a:solidFill>
              <a:srgbClr val="232B3D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8138160" y="1280160"/>
            <a:ext cx="45720" cy="5029200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44" name="Text 42"/>
          <p:cNvSpPr/>
          <p:nvPr/>
        </p:nvSpPr>
        <p:spPr>
          <a:xfrm>
            <a:off x="8321040" y="1463040"/>
            <a:ext cx="3383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06B6D4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📊 OBSERVABILITY</a:t>
            </a:r>
            <a:endParaRPr lang="en-US" sz="1400" dirty="0"/>
          </a:p>
        </p:txBody>
      </p:sp>
      <p:sp>
        <p:nvSpPr>
          <p:cNvPr id="45" name="Shape 43"/>
          <p:cNvSpPr/>
          <p:nvPr/>
        </p:nvSpPr>
        <p:spPr>
          <a:xfrm>
            <a:off x="8321040" y="2057400"/>
            <a:ext cx="36576" cy="777240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46" name="Text 44"/>
          <p:cNvSpPr/>
          <p:nvPr/>
        </p:nvSpPr>
        <p:spPr>
          <a:xfrm>
            <a:off x="8458200" y="205740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Metrics</a:t>
            </a:r>
            <a:endParaRPr lang="en-US" sz="1100" dirty="0"/>
          </a:p>
        </p:txBody>
      </p:sp>
      <p:sp>
        <p:nvSpPr>
          <p:cNvPr id="47" name="Text 45"/>
          <p:cNvSpPr/>
          <p:nvPr/>
        </p:nvSpPr>
        <p:spPr>
          <a:xfrm>
            <a:off x="8458200" y="2350008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7F86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Prometheus exporters (CPU/RAM/disk/EPS)</a:t>
            </a:r>
            <a:endParaRPr lang="en-US" sz="900" dirty="0"/>
          </a:p>
        </p:txBody>
      </p:sp>
      <p:sp>
        <p:nvSpPr>
          <p:cNvPr id="48" name="Shape 46"/>
          <p:cNvSpPr/>
          <p:nvPr/>
        </p:nvSpPr>
        <p:spPr>
          <a:xfrm>
            <a:off x="8321040" y="2926080"/>
            <a:ext cx="36576" cy="777240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49" name="Text 47"/>
          <p:cNvSpPr/>
          <p:nvPr/>
        </p:nvSpPr>
        <p:spPr>
          <a:xfrm>
            <a:off x="8458200" y="292608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Logs</a:t>
            </a:r>
            <a:endParaRPr lang="en-US" sz="1100" dirty="0"/>
          </a:p>
        </p:txBody>
      </p:sp>
      <p:sp>
        <p:nvSpPr>
          <p:cNvPr id="50" name="Text 48"/>
          <p:cNvSpPr/>
          <p:nvPr/>
        </p:nvSpPr>
        <p:spPr>
          <a:xfrm>
            <a:off x="8458200" y="3218688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7F86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Centralized via Loki + Grafana</a:t>
            </a:r>
            <a:endParaRPr lang="en-US" sz="900" dirty="0"/>
          </a:p>
        </p:txBody>
      </p:sp>
      <p:sp>
        <p:nvSpPr>
          <p:cNvPr id="51" name="Shape 49"/>
          <p:cNvSpPr/>
          <p:nvPr/>
        </p:nvSpPr>
        <p:spPr>
          <a:xfrm>
            <a:off x="8321040" y="3794760"/>
            <a:ext cx="36576" cy="777240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52" name="Text 50"/>
          <p:cNvSpPr/>
          <p:nvPr/>
        </p:nvSpPr>
        <p:spPr>
          <a:xfrm>
            <a:off x="8458200" y="379476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Tracing</a:t>
            </a:r>
            <a:endParaRPr lang="en-US" sz="1100" dirty="0"/>
          </a:p>
        </p:txBody>
      </p:sp>
      <p:sp>
        <p:nvSpPr>
          <p:cNvPr id="53" name="Text 51"/>
          <p:cNvSpPr/>
          <p:nvPr/>
        </p:nvSpPr>
        <p:spPr>
          <a:xfrm>
            <a:off x="8458200" y="4087368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7F86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Distributed tracing (Tempo/Jaeger) for G4+</a:t>
            </a:r>
            <a:endParaRPr lang="en-US" sz="900" dirty="0"/>
          </a:p>
        </p:txBody>
      </p:sp>
      <p:sp>
        <p:nvSpPr>
          <p:cNvPr id="54" name="Shape 52"/>
          <p:cNvSpPr/>
          <p:nvPr/>
        </p:nvSpPr>
        <p:spPr>
          <a:xfrm>
            <a:off x="8321040" y="4663440"/>
            <a:ext cx="36576" cy="777240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55" name="Text 53"/>
          <p:cNvSpPr/>
          <p:nvPr/>
        </p:nvSpPr>
        <p:spPr>
          <a:xfrm>
            <a:off x="8458200" y="466344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Alerts</a:t>
            </a:r>
            <a:endParaRPr lang="en-US" sz="1100" dirty="0"/>
          </a:p>
        </p:txBody>
      </p:sp>
      <p:sp>
        <p:nvSpPr>
          <p:cNvPr id="56" name="Text 54"/>
          <p:cNvSpPr/>
          <p:nvPr/>
        </p:nvSpPr>
        <p:spPr>
          <a:xfrm>
            <a:off x="8458200" y="4956048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7F86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PagerDuty for critical, LINE for notifications</a:t>
            </a:r>
            <a:endParaRPr lang="en-US" sz="900" dirty="0"/>
          </a:p>
        </p:txBody>
      </p:sp>
      <p:sp>
        <p:nvSpPr>
          <p:cNvPr id="57" name="Shape 55"/>
          <p:cNvSpPr/>
          <p:nvPr/>
        </p:nvSpPr>
        <p:spPr>
          <a:xfrm>
            <a:off x="8321040" y="5532120"/>
            <a:ext cx="36576" cy="777240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58" name="Text 56"/>
          <p:cNvSpPr/>
          <p:nvPr/>
        </p:nvSpPr>
        <p:spPr>
          <a:xfrm>
            <a:off x="8458200" y="553212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Dashboards</a:t>
            </a:r>
            <a:endParaRPr lang="en-US" sz="1100" dirty="0"/>
          </a:p>
        </p:txBody>
      </p:sp>
      <p:sp>
        <p:nvSpPr>
          <p:cNvPr id="59" name="Text 57"/>
          <p:cNvSpPr/>
          <p:nvPr/>
        </p:nvSpPr>
        <p:spPr>
          <a:xfrm>
            <a:off x="8458200" y="5824728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7F86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Grafana for ops, custom UI for business</a:t>
            </a:r>
            <a:endParaRPr lang="en-US" sz="900" dirty="0"/>
          </a:p>
        </p:txBody>
      </p:sp>
      <p:sp>
        <p:nvSpPr>
          <p:cNvPr id="60" name="Text 58"/>
          <p:cNvSpPr/>
          <p:nvPr/>
        </p:nvSpPr>
        <p:spPr>
          <a:xfrm>
            <a:off x="457200" y="653796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52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Bosch CCTV MQTT Dashboard</a:t>
            </a:r>
            <a:endParaRPr lang="en-US" sz="900" dirty="0"/>
          </a:p>
        </p:txBody>
      </p:sp>
      <p:sp>
        <p:nvSpPr>
          <p:cNvPr id="61" name="Text 59"/>
          <p:cNvSpPr/>
          <p:nvPr/>
        </p:nvSpPr>
        <p:spPr>
          <a:xfrm>
            <a:off x="11430000" y="653796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A52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900" dirty="0"/>
          </a:p>
        </p:txBody>
      </p:sp>
      <p:sp>
        <p:nvSpPr>
          <p:cNvPr id="62" name="Shape 60"/>
          <p:cNvSpPr/>
          <p:nvPr/>
        </p:nvSpPr>
        <p:spPr>
          <a:xfrm>
            <a:off x="457200" y="6492240"/>
            <a:ext cx="11247120" cy="0"/>
          </a:xfrm>
          <a:prstGeom prst="line">
            <a:avLst/>
          </a:prstGeom>
          <a:noFill/>
          <a:ln w="6350">
            <a:solidFill>
              <a:srgbClr val="232B3D"/>
            </a:solidFill>
            <a:prstDash val="solid"/>
          </a:ln>
        </p:spPr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45720"/>
          </a:xfrm>
          <a:prstGeom prst="rect">
            <a:avLst/>
          </a:prstGeom>
          <a:solidFill>
            <a:srgbClr val="5B8DEF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11247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Product Roadmap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57200" y="64008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7F86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ทิศทางการพัฒนาในอนาคต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57200" y="960120"/>
            <a:ext cx="457200" cy="36576"/>
          </a:xfrm>
          <a:prstGeom prst="rect">
            <a:avLst/>
          </a:prstGeom>
          <a:solidFill>
            <a:srgbClr val="5B8DEF"/>
          </a:solidFill>
          <a:ln/>
        </p:spPr>
      </p:sp>
      <p:sp>
        <p:nvSpPr>
          <p:cNvPr id="6" name="Shape 4"/>
          <p:cNvSpPr/>
          <p:nvPr/>
        </p:nvSpPr>
        <p:spPr>
          <a:xfrm>
            <a:off x="914400" y="3657600"/>
            <a:ext cx="10332720" cy="36576"/>
          </a:xfrm>
          <a:prstGeom prst="rect">
            <a:avLst/>
          </a:prstGeom>
          <a:solidFill>
            <a:srgbClr val="232B3D"/>
          </a:solidFill>
          <a:ln/>
        </p:spPr>
      </p:sp>
      <p:sp>
        <p:nvSpPr>
          <p:cNvPr id="7" name="Shape 5"/>
          <p:cNvSpPr/>
          <p:nvPr/>
        </p:nvSpPr>
        <p:spPr>
          <a:xfrm>
            <a:off x="1188720" y="3566160"/>
            <a:ext cx="365760" cy="365760"/>
          </a:xfrm>
          <a:prstGeom prst="ellipse">
            <a:avLst/>
          </a:prstGeom>
          <a:solidFill>
            <a:srgbClr val="22C55E"/>
          </a:solidFill>
          <a:ln w="38100">
            <a:solidFill>
              <a:srgbClr val="0A0E1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292608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2C55E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Q2 2026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57200" y="32004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v4.0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11480" y="4114800"/>
            <a:ext cx="1920240" cy="2103120"/>
          </a:xfrm>
          <a:prstGeom prst="rect">
            <a:avLst/>
          </a:prstGeom>
          <a:solidFill>
            <a:srgbClr val="131826"/>
          </a:solidFill>
          <a:ln w="12700">
            <a:solidFill>
              <a:srgbClr val="232B3D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11480" y="4114800"/>
            <a:ext cx="45720" cy="2103120"/>
          </a:xfrm>
          <a:prstGeom prst="rect">
            <a:avLst/>
          </a:prstGeom>
          <a:solidFill>
            <a:srgbClr val="22C55E"/>
          </a:solidFill>
          <a:ln/>
        </p:spPr>
      </p:sp>
      <p:sp>
        <p:nvSpPr>
          <p:cNvPr id="12" name="Text 10"/>
          <p:cNvSpPr/>
          <p:nvPr/>
        </p:nvSpPr>
        <p:spPr>
          <a:xfrm>
            <a:off x="502920" y="4206240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Current Release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02920" y="461772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22C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Released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502920" y="4937760"/>
            <a:ext cx="17373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200"/>
              </a:spcAft>
              <a:buSzPct val="100000"/>
              <a:buChar char="●"/>
            </a:pPr>
            <a:r>
              <a:rPr lang="en-US" sz="800" dirty="0">
                <a:solidFill>
                  <a:srgbClr val="7F86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Camera groups</a:t>
            </a:r>
            <a:endParaRPr lang="en-US" sz="800" dirty="0"/>
          </a:p>
          <a:p>
            <a:pPr marL="342900" indent="-342900">
              <a:spcAft>
                <a:spcPts val="200"/>
              </a:spcAft>
              <a:buSzPct val="100000"/>
              <a:buChar char="●"/>
            </a:pPr>
            <a:r>
              <a:rPr lang="en-US" sz="800" dirty="0">
                <a:solidFill>
                  <a:srgbClr val="7F86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Heatmap + hover popup</a:t>
            </a:r>
            <a:endParaRPr lang="en-US" sz="800" dirty="0"/>
          </a:p>
          <a:p>
            <a:pPr marL="342900" indent="-342900">
              <a:spcAft>
                <a:spcPts val="200"/>
              </a:spcAft>
              <a:buSzPct val="100000"/>
              <a:buChar char="●"/>
            </a:pPr>
            <a:r>
              <a:rPr lang="en-US" sz="800" dirty="0">
                <a:solidFill>
                  <a:srgbClr val="7F86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Stats with KPI/Pie</a:t>
            </a:r>
            <a:endParaRPr lang="en-US" sz="800" dirty="0"/>
          </a:p>
          <a:p>
            <a:pPr marL="342900" indent="-342900">
              <a:spcAft>
                <a:spcPts val="200"/>
              </a:spcAft>
              <a:buSzPct val="100000"/>
              <a:buChar char="●"/>
            </a:pPr>
            <a:r>
              <a:rPr lang="en-US" sz="800" dirty="0">
                <a:solidFill>
                  <a:srgbClr val="7F86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DB optimization</a:t>
            </a:r>
            <a:endParaRPr lang="en-US" sz="800" dirty="0"/>
          </a:p>
        </p:txBody>
      </p:sp>
      <p:sp>
        <p:nvSpPr>
          <p:cNvPr id="15" name="Shape 13"/>
          <p:cNvSpPr/>
          <p:nvPr/>
        </p:nvSpPr>
        <p:spPr>
          <a:xfrm>
            <a:off x="3383280" y="3566160"/>
            <a:ext cx="365760" cy="365760"/>
          </a:xfrm>
          <a:prstGeom prst="ellipse">
            <a:avLst/>
          </a:prstGeom>
          <a:solidFill>
            <a:srgbClr val="F59E0B"/>
          </a:solidFill>
          <a:ln w="38100">
            <a:solidFill>
              <a:srgbClr val="0A0E1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651760" y="292608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59E0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Q2 2026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2651760" y="32004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v4.1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2606040" y="4114800"/>
            <a:ext cx="1920240" cy="2103120"/>
          </a:xfrm>
          <a:prstGeom prst="rect">
            <a:avLst/>
          </a:prstGeom>
          <a:solidFill>
            <a:srgbClr val="131826"/>
          </a:solidFill>
          <a:ln w="12700">
            <a:solidFill>
              <a:srgbClr val="232B3D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606040" y="4114800"/>
            <a:ext cx="45720" cy="210312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20" name="Text 18"/>
          <p:cNvSpPr/>
          <p:nvPr/>
        </p:nvSpPr>
        <p:spPr>
          <a:xfrm>
            <a:off x="2697480" y="4206240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LINE Alert System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2697480" y="461772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4A52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◯ Planned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2697480" y="4937760"/>
            <a:ext cx="17373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200"/>
              </a:spcAft>
              <a:buSzPct val="100000"/>
              <a:buChar char="●"/>
            </a:pPr>
            <a:r>
              <a:rPr lang="en-US" sz="800" dirty="0">
                <a:solidFill>
                  <a:srgbClr val="7F86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Multi-recipient alerts</a:t>
            </a:r>
            <a:endParaRPr lang="en-US" sz="800" dirty="0"/>
          </a:p>
          <a:p>
            <a:pPr marL="342900" indent="-342900">
              <a:spcAft>
                <a:spcPts val="200"/>
              </a:spcAft>
              <a:buSzPct val="100000"/>
              <a:buChar char="●"/>
            </a:pPr>
            <a:r>
              <a:rPr lang="en-US" sz="800" dirty="0">
                <a:solidFill>
                  <a:srgbClr val="7F86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Custom rule builder</a:t>
            </a:r>
            <a:endParaRPr lang="en-US" sz="800" dirty="0"/>
          </a:p>
          <a:p>
            <a:pPr marL="342900" indent="-342900">
              <a:spcAft>
                <a:spcPts val="200"/>
              </a:spcAft>
              <a:buSzPct val="100000"/>
              <a:buChar char="●"/>
            </a:pPr>
            <a:r>
              <a:rPr lang="en-US" sz="800" dirty="0">
                <a:solidFill>
                  <a:srgbClr val="7F86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Cooldown + dedup</a:t>
            </a:r>
            <a:endParaRPr lang="en-US" sz="800" dirty="0"/>
          </a:p>
          <a:p>
            <a:pPr marL="342900" indent="-342900">
              <a:spcAft>
                <a:spcPts val="200"/>
              </a:spcAft>
              <a:buSzPct val="100000"/>
              <a:buChar char="●"/>
            </a:pPr>
            <a:r>
              <a:rPr lang="en-US" sz="800" dirty="0">
                <a:solidFill>
                  <a:srgbClr val="7F86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Snapshot via imgbb</a:t>
            </a:r>
            <a:endParaRPr lang="en-US" sz="800" dirty="0"/>
          </a:p>
        </p:txBody>
      </p:sp>
      <p:sp>
        <p:nvSpPr>
          <p:cNvPr id="23" name="Shape 21"/>
          <p:cNvSpPr/>
          <p:nvPr/>
        </p:nvSpPr>
        <p:spPr>
          <a:xfrm>
            <a:off x="5577840" y="3566160"/>
            <a:ext cx="365760" cy="365760"/>
          </a:xfrm>
          <a:prstGeom prst="ellipse">
            <a:avLst/>
          </a:prstGeom>
          <a:solidFill>
            <a:srgbClr val="A78BFA"/>
          </a:solidFill>
          <a:ln w="38100">
            <a:solidFill>
              <a:srgbClr val="0A0E1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846320" y="292608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A78BF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Q3 2026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4846320" y="32004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v4.2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4800600" y="4114800"/>
            <a:ext cx="1920240" cy="2103120"/>
          </a:xfrm>
          <a:prstGeom prst="rect">
            <a:avLst/>
          </a:prstGeom>
          <a:solidFill>
            <a:srgbClr val="131826"/>
          </a:solidFill>
          <a:ln w="12700">
            <a:solidFill>
              <a:srgbClr val="232B3D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800600" y="4114800"/>
            <a:ext cx="45720" cy="2103120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28" name="Text 26"/>
          <p:cNvSpPr/>
          <p:nvPr/>
        </p:nvSpPr>
        <p:spPr>
          <a:xfrm>
            <a:off x="4892040" y="4206240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Mobile Responsive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4892040" y="461772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4A52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◯ Planned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4892040" y="4937760"/>
            <a:ext cx="17373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200"/>
              </a:spcAft>
              <a:buSzPct val="100000"/>
              <a:buChar char="●"/>
            </a:pPr>
            <a:r>
              <a:rPr lang="en-US" sz="800" dirty="0">
                <a:solidFill>
                  <a:srgbClr val="7F86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Bottom navigation</a:t>
            </a:r>
            <a:endParaRPr lang="en-US" sz="800" dirty="0"/>
          </a:p>
          <a:p>
            <a:pPr marL="342900" indent="-342900">
              <a:spcAft>
                <a:spcPts val="200"/>
              </a:spcAft>
              <a:buSzPct val="100000"/>
              <a:buChar char="●"/>
            </a:pPr>
            <a:r>
              <a:rPr lang="en-US" sz="800" dirty="0">
                <a:solidFill>
                  <a:srgbClr val="7F86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Touch-optimized UI</a:t>
            </a:r>
            <a:endParaRPr lang="en-US" sz="800" dirty="0"/>
          </a:p>
          <a:p>
            <a:pPr marL="342900" indent="-342900">
              <a:spcAft>
                <a:spcPts val="200"/>
              </a:spcAft>
              <a:buSzPct val="100000"/>
              <a:buChar char="●"/>
            </a:pPr>
            <a:r>
              <a:rPr lang="en-US" sz="800" dirty="0">
                <a:solidFill>
                  <a:srgbClr val="7F86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Card-based events</a:t>
            </a:r>
            <a:endParaRPr lang="en-US" sz="800" dirty="0"/>
          </a:p>
          <a:p>
            <a:pPr marL="342900" indent="-342900">
              <a:spcAft>
                <a:spcPts val="200"/>
              </a:spcAft>
              <a:buSzPct val="100000"/>
              <a:buChar char="●"/>
            </a:pPr>
            <a:r>
              <a:rPr lang="en-US" sz="800" dirty="0">
                <a:solidFill>
                  <a:srgbClr val="7F86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Pinch-zoom map</a:t>
            </a:r>
            <a:endParaRPr lang="en-US" sz="800" dirty="0"/>
          </a:p>
        </p:txBody>
      </p:sp>
      <p:sp>
        <p:nvSpPr>
          <p:cNvPr id="31" name="Shape 29"/>
          <p:cNvSpPr/>
          <p:nvPr/>
        </p:nvSpPr>
        <p:spPr>
          <a:xfrm>
            <a:off x="7772400" y="3566160"/>
            <a:ext cx="365760" cy="365760"/>
          </a:xfrm>
          <a:prstGeom prst="ellipse">
            <a:avLst/>
          </a:prstGeom>
          <a:solidFill>
            <a:srgbClr val="06B6D4"/>
          </a:solidFill>
          <a:ln w="38100">
            <a:solidFill>
              <a:srgbClr val="0A0E1A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040880" y="292608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6B6D4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Q4 2026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7040880" y="32004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v5.0</a:t>
            </a:r>
            <a:endParaRPr lang="en-US" sz="1400" dirty="0"/>
          </a:p>
        </p:txBody>
      </p:sp>
      <p:sp>
        <p:nvSpPr>
          <p:cNvPr id="34" name="Shape 32"/>
          <p:cNvSpPr/>
          <p:nvPr/>
        </p:nvSpPr>
        <p:spPr>
          <a:xfrm>
            <a:off x="6995160" y="4114800"/>
            <a:ext cx="1920240" cy="2103120"/>
          </a:xfrm>
          <a:prstGeom prst="rect">
            <a:avLst/>
          </a:prstGeom>
          <a:solidFill>
            <a:srgbClr val="131826"/>
          </a:solidFill>
          <a:ln w="12700">
            <a:solidFill>
              <a:srgbClr val="232B3D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6995160" y="4114800"/>
            <a:ext cx="45720" cy="2103120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36" name="Text 34"/>
          <p:cNvSpPr/>
          <p:nvPr/>
        </p:nvSpPr>
        <p:spPr>
          <a:xfrm>
            <a:off x="7086600" y="4206240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Enterprise Features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7086600" y="461772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4A52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◯ Planned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7086600" y="4937760"/>
            <a:ext cx="17373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200"/>
              </a:spcAft>
              <a:buSzPct val="100000"/>
              <a:buChar char="●"/>
            </a:pPr>
            <a:r>
              <a:rPr lang="en-US" sz="800" dirty="0">
                <a:solidFill>
                  <a:srgbClr val="7F86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Multi-tenant</a:t>
            </a:r>
            <a:endParaRPr lang="en-US" sz="800" dirty="0"/>
          </a:p>
          <a:p>
            <a:pPr marL="342900" indent="-342900">
              <a:spcAft>
                <a:spcPts val="200"/>
              </a:spcAft>
              <a:buSzPct val="100000"/>
              <a:buChar char="●"/>
            </a:pPr>
            <a:r>
              <a:rPr lang="en-US" sz="800" dirty="0">
                <a:solidFill>
                  <a:srgbClr val="7F86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Role-based access</a:t>
            </a:r>
            <a:endParaRPr lang="en-US" sz="800" dirty="0"/>
          </a:p>
          <a:p>
            <a:pPr marL="342900" indent="-342900">
              <a:spcAft>
                <a:spcPts val="200"/>
              </a:spcAft>
              <a:buSzPct val="100000"/>
              <a:buChar char="●"/>
            </a:pPr>
            <a:r>
              <a:rPr lang="en-US" sz="800" dirty="0">
                <a:solidFill>
                  <a:srgbClr val="7F86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Audit trail</a:t>
            </a:r>
            <a:endParaRPr lang="en-US" sz="800" dirty="0"/>
          </a:p>
          <a:p>
            <a:pPr marL="342900" indent="-342900">
              <a:spcAft>
                <a:spcPts val="200"/>
              </a:spcAft>
              <a:buSzPct val="100000"/>
              <a:buChar char="●"/>
            </a:pPr>
            <a:r>
              <a:rPr lang="en-US" sz="800" dirty="0">
                <a:solidFill>
                  <a:srgbClr val="7F86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API rate limiting</a:t>
            </a:r>
            <a:endParaRPr lang="en-US" sz="800" dirty="0"/>
          </a:p>
        </p:txBody>
      </p:sp>
      <p:sp>
        <p:nvSpPr>
          <p:cNvPr id="39" name="Shape 37"/>
          <p:cNvSpPr/>
          <p:nvPr/>
        </p:nvSpPr>
        <p:spPr>
          <a:xfrm>
            <a:off x="9966960" y="3566160"/>
            <a:ext cx="365760" cy="365760"/>
          </a:xfrm>
          <a:prstGeom prst="ellipse">
            <a:avLst/>
          </a:prstGeom>
          <a:solidFill>
            <a:srgbClr val="5B8DEF"/>
          </a:solidFill>
          <a:ln w="38100">
            <a:solidFill>
              <a:srgbClr val="0A0E1A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9235440" y="292608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5B8DE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Q1 2027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9235440" y="32004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v5.1</a:t>
            </a:r>
            <a:endParaRPr lang="en-US" sz="1400" dirty="0"/>
          </a:p>
        </p:txBody>
      </p:sp>
      <p:sp>
        <p:nvSpPr>
          <p:cNvPr id="42" name="Shape 40"/>
          <p:cNvSpPr/>
          <p:nvPr/>
        </p:nvSpPr>
        <p:spPr>
          <a:xfrm>
            <a:off x="9189720" y="4114800"/>
            <a:ext cx="1920240" cy="2103120"/>
          </a:xfrm>
          <a:prstGeom prst="rect">
            <a:avLst/>
          </a:prstGeom>
          <a:solidFill>
            <a:srgbClr val="131826"/>
          </a:solidFill>
          <a:ln w="12700">
            <a:solidFill>
              <a:srgbClr val="232B3D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9189720" y="4114800"/>
            <a:ext cx="45720" cy="2103120"/>
          </a:xfrm>
          <a:prstGeom prst="rect">
            <a:avLst/>
          </a:prstGeom>
          <a:solidFill>
            <a:srgbClr val="5B8DEF"/>
          </a:solidFill>
          <a:ln/>
        </p:spPr>
      </p:sp>
      <p:sp>
        <p:nvSpPr>
          <p:cNvPr id="44" name="Text 42"/>
          <p:cNvSpPr/>
          <p:nvPr/>
        </p:nvSpPr>
        <p:spPr>
          <a:xfrm>
            <a:off x="9281160" y="4206240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AI Enhancements</a:t>
            </a:r>
            <a:endParaRPr lang="en-US" sz="1100" dirty="0"/>
          </a:p>
        </p:txBody>
      </p:sp>
      <p:sp>
        <p:nvSpPr>
          <p:cNvPr id="45" name="Text 43"/>
          <p:cNvSpPr/>
          <p:nvPr/>
        </p:nvSpPr>
        <p:spPr>
          <a:xfrm>
            <a:off x="9281160" y="461772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4A52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◯ Planned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9281160" y="4937760"/>
            <a:ext cx="17373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200"/>
              </a:spcAft>
              <a:buSzPct val="100000"/>
              <a:buChar char="●"/>
            </a:pPr>
            <a:r>
              <a:rPr lang="en-US" sz="800" dirty="0">
                <a:solidFill>
                  <a:srgbClr val="7F86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Anomaly detection</a:t>
            </a:r>
            <a:endParaRPr lang="en-US" sz="800" dirty="0"/>
          </a:p>
          <a:p>
            <a:pPr marL="342900" indent="-342900">
              <a:spcAft>
                <a:spcPts val="200"/>
              </a:spcAft>
              <a:buSzPct val="100000"/>
              <a:buChar char="●"/>
            </a:pPr>
            <a:r>
              <a:rPr lang="en-US" sz="800" dirty="0">
                <a:solidFill>
                  <a:srgbClr val="7F86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Person re-identification</a:t>
            </a:r>
            <a:endParaRPr lang="en-US" sz="800" dirty="0"/>
          </a:p>
          <a:p>
            <a:pPr marL="342900" indent="-342900">
              <a:spcAft>
                <a:spcPts val="200"/>
              </a:spcAft>
              <a:buSzPct val="100000"/>
              <a:buChar char="●"/>
            </a:pPr>
            <a:r>
              <a:rPr lang="en-US" sz="800" dirty="0">
                <a:solidFill>
                  <a:srgbClr val="7F86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License plate search</a:t>
            </a:r>
            <a:endParaRPr lang="en-US" sz="800" dirty="0"/>
          </a:p>
          <a:p>
            <a:pPr marL="342900" indent="-342900">
              <a:spcAft>
                <a:spcPts val="200"/>
              </a:spcAft>
              <a:buSzPct val="100000"/>
              <a:buChar char="●"/>
            </a:pPr>
            <a:r>
              <a:rPr lang="en-US" sz="800" dirty="0">
                <a:solidFill>
                  <a:srgbClr val="7F86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Smart highlights</a:t>
            </a:r>
            <a:endParaRPr lang="en-US" sz="800" dirty="0"/>
          </a:p>
        </p:txBody>
      </p:sp>
      <p:sp>
        <p:nvSpPr>
          <p:cNvPr id="47" name="Text 45"/>
          <p:cNvSpPr/>
          <p:nvPr/>
        </p:nvSpPr>
        <p:spPr>
          <a:xfrm>
            <a:off x="457200" y="653796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52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Bosch CCTV MQTT Dashboard</a:t>
            </a:r>
            <a:endParaRPr lang="en-US" sz="900" dirty="0"/>
          </a:p>
        </p:txBody>
      </p:sp>
      <p:sp>
        <p:nvSpPr>
          <p:cNvPr id="48" name="Text 46"/>
          <p:cNvSpPr/>
          <p:nvPr/>
        </p:nvSpPr>
        <p:spPr>
          <a:xfrm>
            <a:off x="11430000" y="653796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A52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</a:t>
            </a:r>
            <a:endParaRPr lang="en-US" sz="900" dirty="0"/>
          </a:p>
        </p:txBody>
      </p:sp>
      <p:sp>
        <p:nvSpPr>
          <p:cNvPr id="49" name="Shape 47"/>
          <p:cNvSpPr/>
          <p:nvPr/>
        </p:nvSpPr>
        <p:spPr>
          <a:xfrm>
            <a:off x="457200" y="6492240"/>
            <a:ext cx="11247120" cy="0"/>
          </a:xfrm>
          <a:prstGeom prst="line">
            <a:avLst/>
          </a:prstGeom>
          <a:noFill/>
          <a:ln w="6350">
            <a:solidFill>
              <a:srgbClr val="232B3D"/>
            </a:solidFill>
            <a:prstDash val="solid"/>
          </a:ln>
        </p:spPr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45720"/>
          </a:xfrm>
          <a:prstGeom prst="rect">
            <a:avLst/>
          </a:prstGeom>
          <a:solidFill>
            <a:srgbClr val="5B8DEF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11247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Why Choose This Solution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57200" y="64008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7F86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จุดเด่นที่ทำให้ระบบนี้แตกต่าง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57200" y="960120"/>
            <a:ext cx="457200" cy="36576"/>
          </a:xfrm>
          <a:prstGeom prst="rect">
            <a:avLst/>
          </a:prstGeom>
          <a:solidFill>
            <a:srgbClr val="5B8DEF"/>
          </a:solidFill>
          <a:ln/>
        </p:spPr>
      </p:sp>
      <p:sp>
        <p:nvSpPr>
          <p:cNvPr id="6" name="Shape 4"/>
          <p:cNvSpPr/>
          <p:nvPr/>
        </p:nvSpPr>
        <p:spPr>
          <a:xfrm>
            <a:off x="457200" y="1371600"/>
            <a:ext cx="2743200" cy="1554480"/>
          </a:xfrm>
          <a:prstGeom prst="rect">
            <a:avLst/>
          </a:prstGeom>
          <a:solidFill>
            <a:srgbClr val="131826"/>
          </a:solidFill>
          <a:ln w="12700">
            <a:solidFill>
              <a:srgbClr val="232B3D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1371600"/>
            <a:ext cx="45720" cy="1554480"/>
          </a:xfrm>
          <a:prstGeom prst="rect">
            <a:avLst/>
          </a:prstGeom>
          <a:solidFill>
            <a:srgbClr val="22C55E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1554480"/>
            <a:ext cx="2560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22C55E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&lt;400ms</a:t>
            </a:r>
            <a:endParaRPr lang="en-US" sz="3600" dirty="0"/>
          </a:p>
        </p:txBody>
      </p:sp>
      <p:sp>
        <p:nvSpPr>
          <p:cNvPr id="9" name="Text 7"/>
          <p:cNvSpPr/>
          <p:nvPr/>
        </p:nvSpPr>
        <p:spPr>
          <a:xfrm>
            <a:off x="548640" y="237744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spc="100" kern="0" dirty="0">
                <a:solidFill>
                  <a:srgbClr val="7F86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End-to-end Latency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383280" y="1371600"/>
            <a:ext cx="2743200" cy="1554480"/>
          </a:xfrm>
          <a:prstGeom prst="rect">
            <a:avLst/>
          </a:prstGeom>
          <a:solidFill>
            <a:srgbClr val="131826"/>
          </a:solidFill>
          <a:ln w="12700">
            <a:solidFill>
              <a:srgbClr val="232B3D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383280" y="1371600"/>
            <a:ext cx="45720" cy="1554480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12" name="Text 10"/>
          <p:cNvSpPr/>
          <p:nvPr/>
        </p:nvSpPr>
        <p:spPr>
          <a:xfrm>
            <a:off x="3474720" y="1554480"/>
            <a:ext cx="2560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06B6D4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99.9%</a:t>
            </a:r>
            <a:endParaRPr lang="en-US" sz="3600" dirty="0"/>
          </a:p>
        </p:txBody>
      </p:sp>
      <p:sp>
        <p:nvSpPr>
          <p:cNvPr id="13" name="Text 11"/>
          <p:cNvSpPr/>
          <p:nvPr/>
        </p:nvSpPr>
        <p:spPr>
          <a:xfrm>
            <a:off x="3474720" y="237744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spc="100" kern="0" dirty="0">
                <a:solidFill>
                  <a:srgbClr val="7F86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Uptime SLA Capable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309360" y="1371600"/>
            <a:ext cx="2743200" cy="1554480"/>
          </a:xfrm>
          <a:prstGeom prst="rect">
            <a:avLst/>
          </a:prstGeom>
          <a:solidFill>
            <a:srgbClr val="131826"/>
          </a:solidFill>
          <a:ln w="12700">
            <a:solidFill>
              <a:srgbClr val="232B3D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309360" y="1371600"/>
            <a:ext cx="45720" cy="155448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6" name="Text 14"/>
          <p:cNvSpPr/>
          <p:nvPr/>
        </p:nvSpPr>
        <p:spPr>
          <a:xfrm>
            <a:off x="6400800" y="1554480"/>
            <a:ext cx="2560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59E0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3000+</a:t>
            </a:r>
            <a:endParaRPr lang="en-US" sz="3600" dirty="0"/>
          </a:p>
        </p:txBody>
      </p:sp>
      <p:sp>
        <p:nvSpPr>
          <p:cNvPr id="17" name="Text 15"/>
          <p:cNvSpPr/>
          <p:nvPr/>
        </p:nvSpPr>
        <p:spPr>
          <a:xfrm>
            <a:off x="6400800" y="237744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spc="100" kern="0" dirty="0">
                <a:solidFill>
                  <a:srgbClr val="7F86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Cameras Supported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9235440" y="1371600"/>
            <a:ext cx="2743200" cy="1554480"/>
          </a:xfrm>
          <a:prstGeom prst="rect">
            <a:avLst/>
          </a:prstGeom>
          <a:solidFill>
            <a:srgbClr val="131826"/>
          </a:solidFill>
          <a:ln w="12700">
            <a:solidFill>
              <a:srgbClr val="232B3D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9235440" y="1371600"/>
            <a:ext cx="45720" cy="1554480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20" name="Text 18"/>
          <p:cNvSpPr/>
          <p:nvPr/>
        </p:nvSpPr>
        <p:spPr>
          <a:xfrm>
            <a:off x="9326880" y="1554480"/>
            <a:ext cx="2560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A78BF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100%</a:t>
            </a:r>
            <a:endParaRPr lang="en-US" sz="3600" dirty="0"/>
          </a:p>
        </p:txBody>
      </p:sp>
      <p:sp>
        <p:nvSpPr>
          <p:cNvPr id="21" name="Text 19"/>
          <p:cNvSpPr/>
          <p:nvPr/>
        </p:nvSpPr>
        <p:spPr>
          <a:xfrm>
            <a:off x="9326880" y="237744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spc="100" kern="0" dirty="0">
                <a:solidFill>
                  <a:srgbClr val="7F86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 Standards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57200" y="3291840"/>
            <a:ext cx="3657600" cy="1417320"/>
          </a:xfrm>
          <a:prstGeom prst="rect">
            <a:avLst/>
          </a:prstGeom>
          <a:solidFill>
            <a:srgbClr val="131826"/>
          </a:solidFill>
          <a:ln w="12700">
            <a:solidFill>
              <a:srgbClr val="232B3D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94360" y="342900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000000"/>
                </a:solidFill>
              </a:rPr>
              <a:t>🎯</a:t>
            </a:r>
            <a:endParaRPr lang="en-US" sz="3200" dirty="0"/>
          </a:p>
        </p:txBody>
      </p:sp>
      <p:sp>
        <p:nvSpPr>
          <p:cNvPr id="24" name="Text 22"/>
          <p:cNvSpPr/>
          <p:nvPr/>
        </p:nvSpPr>
        <p:spPr>
          <a:xfrm>
            <a:off x="1417320" y="3474720"/>
            <a:ext cx="2606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Built on Open Standards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1417320" y="3886200"/>
            <a:ext cx="2606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7F86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ONVIF Profile M, MQTT, PostgreSQL — ไม่มี vendor lock-in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4297680" y="3291840"/>
            <a:ext cx="3657600" cy="1417320"/>
          </a:xfrm>
          <a:prstGeom prst="rect">
            <a:avLst/>
          </a:prstGeom>
          <a:solidFill>
            <a:srgbClr val="131826"/>
          </a:solidFill>
          <a:ln w="12700">
            <a:solidFill>
              <a:srgbClr val="232B3D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434840" y="342900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000000"/>
                </a:solidFill>
              </a:rPr>
              <a:t>⚡</a:t>
            </a:r>
            <a:endParaRPr lang="en-US" sz="3200" dirty="0"/>
          </a:p>
        </p:txBody>
      </p:sp>
      <p:sp>
        <p:nvSpPr>
          <p:cNvPr id="28" name="Text 26"/>
          <p:cNvSpPr/>
          <p:nvPr/>
        </p:nvSpPr>
        <p:spPr>
          <a:xfrm>
            <a:off x="5257800" y="3474720"/>
            <a:ext cx="2606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Real-time by Design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5257800" y="3886200"/>
            <a:ext cx="2606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7F86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WebSocket push สำหรับ live updates, ไม่ต้อง polling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8138160" y="3291840"/>
            <a:ext cx="3657600" cy="1417320"/>
          </a:xfrm>
          <a:prstGeom prst="rect">
            <a:avLst/>
          </a:prstGeom>
          <a:solidFill>
            <a:srgbClr val="131826"/>
          </a:solidFill>
          <a:ln w="12700">
            <a:solidFill>
              <a:srgbClr val="232B3D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8275320" y="342900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000000"/>
                </a:solidFill>
              </a:rPr>
              <a:t>🧩</a:t>
            </a:r>
            <a:endParaRPr lang="en-US" sz="3200" dirty="0"/>
          </a:p>
        </p:txBody>
      </p:sp>
      <p:sp>
        <p:nvSpPr>
          <p:cNvPr id="32" name="Text 30"/>
          <p:cNvSpPr/>
          <p:nvPr/>
        </p:nvSpPr>
        <p:spPr>
          <a:xfrm>
            <a:off x="9098280" y="3474720"/>
            <a:ext cx="2606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Modular Architecture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9098280" y="3886200"/>
            <a:ext cx="2606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7F86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เริ่มเล็ก scale ใหญ่ได้ — ไม่ต้องเขียนใหม่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457200" y="4846320"/>
            <a:ext cx="3657600" cy="1417320"/>
          </a:xfrm>
          <a:prstGeom prst="rect">
            <a:avLst/>
          </a:prstGeom>
          <a:solidFill>
            <a:srgbClr val="131826"/>
          </a:solidFill>
          <a:ln w="12700">
            <a:solidFill>
              <a:srgbClr val="232B3D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94360" y="498348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000000"/>
                </a:solidFill>
              </a:rPr>
              <a:t>🛠</a:t>
            </a:r>
            <a:endParaRPr lang="en-US" sz="3200" dirty="0"/>
          </a:p>
        </p:txBody>
      </p:sp>
      <p:sp>
        <p:nvSpPr>
          <p:cNvPr id="36" name="Text 34"/>
          <p:cNvSpPr/>
          <p:nvPr/>
        </p:nvSpPr>
        <p:spPr>
          <a:xfrm>
            <a:off x="1417320" y="5029200"/>
            <a:ext cx="2606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Customizable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1417320" y="5440680"/>
            <a:ext cx="2606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7F86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 code เป็น JavaScript อ่านง่าย แก้ไขได้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4297680" y="4846320"/>
            <a:ext cx="3657600" cy="1417320"/>
          </a:xfrm>
          <a:prstGeom prst="rect">
            <a:avLst/>
          </a:prstGeom>
          <a:solidFill>
            <a:srgbClr val="131826"/>
          </a:solidFill>
          <a:ln w="12700">
            <a:solidFill>
              <a:srgbClr val="232B3D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434840" y="498348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000000"/>
                </a:solidFill>
              </a:rPr>
              <a:t>💰</a:t>
            </a:r>
            <a:endParaRPr lang="en-US" sz="3200" dirty="0"/>
          </a:p>
        </p:txBody>
      </p:sp>
      <p:sp>
        <p:nvSpPr>
          <p:cNvPr id="40" name="Text 38"/>
          <p:cNvSpPr/>
          <p:nvPr/>
        </p:nvSpPr>
        <p:spPr>
          <a:xfrm>
            <a:off x="5257800" y="5029200"/>
            <a:ext cx="2606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Cost Effective</a:t>
            </a:r>
            <a:endParaRPr lang="en-US" sz="1200" dirty="0"/>
          </a:p>
        </p:txBody>
      </p:sp>
      <p:sp>
        <p:nvSpPr>
          <p:cNvPr id="41" name="Text 39"/>
          <p:cNvSpPr/>
          <p:nvPr/>
        </p:nvSpPr>
        <p:spPr>
          <a:xfrm>
            <a:off x="5257800" y="5440680"/>
            <a:ext cx="2606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7F86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ใช้ open source ทั้งหมด — ไม่มีค่า license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8138160" y="4846320"/>
            <a:ext cx="3657600" cy="1417320"/>
          </a:xfrm>
          <a:prstGeom prst="rect">
            <a:avLst/>
          </a:prstGeom>
          <a:solidFill>
            <a:srgbClr val="131826"/>
          </a:solidFill>
          <a:ln w="12700">
            <a:solidFill>
              <a:srgbClr val="232B3D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8275320" y="498348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000000"/>
                </a:solidFill>
              </a:rPr>
              <a:t>🔌</a:t>
            </a:r>
            <a:endParaRPr lang="en-US" sz="3200" dirty="0"/>
          </a:p>
        </p:txBody>
      </p:sp>
      <p:sp>
        <p:nvSpPr>
          <p:cNvPr id="44" name="Text 42"/>
          <p:cNvSpPr/>
          <p:nvPr/>
        </p:nvSpPr>
        <p:spPr>
          <a:xfrm>
            <a:off x="9098280" y="5029200"/>
            <a:ext cx="2606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Easy Integration</a:t>
            </a:r>
            <a:endParaRPr lang="en-US" sz="1200" dirty="0"/>
          </a:p>
        </p:txBody>
      </p:sp>
      <p:sp>
        <p:nvSpPr>
          <p:cNvPr id="45" name="Text 43"/>
          <p:cNvSpPr/>
          <p:nvPr/>
        </p:nvSpPr>
        <p:spPr>
          <a:xfrm>
            <a:off x="9098280" y="5440680"/>
            <a:ext cx="2606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7F86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REST API + Webhook → connect ได้กับระบบเดิม</a:t>
            </a:r>
            <a:endParaRPr lang="en-US" sz="1000" dirty="0"/>
          </a:p>
        </p:txBody>
      </p:sp>
      <p:sp>
        <p:nvSpPr>
          <p:cNvPr id="46" name="Text 44"/>
          <p:cNvSpPr/>
          <p:nvPr/>
        </p:nvSpPr>
        <p:spPr>
          <a:xfrm>
            <a:off x="457200" y="653796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52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Bosch CCTV MQTT Dashboard</a:t>
            </a:r>
            <a:endParaRPr lang="en-US" sz="900" dirty="0"/>
          </a:p>
        </p:txBody>
      </p:sp>
      <p:sp>
        <p:nvSpPr>
          <p:cNvPr id="47" name="Text 45"/>
          <p:cNvSpPr/>
          <p:nvPr/>
        </p:nvSpPr>
        <p:spPr>
          <a:xfrm>
            <a:off x="11430000" y="653796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A52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</a:t>
            </a:r>
            <a:endParaRPr lang="en-US" sz="900" dirty="0"/>
          </a:p>
        </p:txBody>
      </p:sp>
      <p:sp>
        <p:nvSpPr>
          <p:cNvPr id="48" name="Shape 46"/>
          <p:cNvSpPr/>
          <p:nvPr/>
        </p:nvSpPr>
        <p:spPr>
          <a:xfrm>
            <a:off x="457200" y="6492240"/>
            <a:ext cx="11247120" cy="0"/>
          </a:xfrm>
          <a:prstGeom prst="line">
            <a:avLst/>
          </a:prstGeom>
          <a:noFill/>
          <a:ln w="6350">
            <a:solidFill>
              <a:srgbClr val="232B3D"/>
            </a:solidFill>
            <a:prstDash val="solid"/>
          </a:ln>
        </p:spPr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37160"/>
          </a:xfrm>
          <a:prstGeom prst="rect">
            <a:avLst/>
          </a:prstGeom>
          <a:solidFill>
            <a:srgbClr val="5B8DE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720840"/>
            <a:ext cx="12161520" cy="137160"/>
          </a:xfrm>
          <a:prstGeom prst="rect">
            <a:avLst/>
          </a:prstGeom>
          <a:solidFill>
            <a:srgbClr val="5B8DEF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828800"/>
            <a:ext cx="112471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Let's Build Together</a:t>
            </a:r>
            <a:endParaRPr lang="en-US" sz="6000" dirty="0"/>
          </a:p>
        </p:txBody>
      </p:sp>
      <p:sp>
        <p:nvSpPr>
          <p:cNvPr id="5" name="Text 3"/>
          <p:cNvSpPr/>
          <p:nvPr/>
        </p:nvSpPr>
        <p:spPr>
          <a:xfrm>
            <a:off x="457200" y="3108960"/>
            <a:ext cx="11247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i="1" dirty="0">
                <a:solidFill>
                  <a:srgbClr val="5B8DE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Ready to deploy intelligent video analytics for your facility?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457200" y="4023360"/>
            <a:ext cx="3657600" cy="1463040"/>
          </a:xfrm>
          <a:prstGeom prst="rect">
            <a:avLst/>
          </a:prstGeom>
          <a:solidFill>
            <a:srgbClr val="131826"/>
          </a:solidFill>
          <a:ln w="12700">
            <a:solidFill>
              <a:srgbClr val="232B3D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4023360"/>
            <a:ext cx="45720" cy="1463040"/>
          </a:xfrm>
          <a:prstGeom prst="rect">
            <a:avLst/>
          </a:prstGeom>
          <a:solidFill>
            <a:srgbClr val="5B8DEF"/>
          </a:solidFill>
          <a:ln/>
        </p:spPr>
      </p:sp>
      <p:sp>
        <p:nvSpPr>
          <p:cNvPr id="8" name="Text 6"/>
          <p:cNvSpPr/>
          <p:nvPr/>
        </p:nvSpPr>
        <p:spPr>
          <a:xfrm>
            <a:off x="594360" y="4160520"/>
            <a:ext cx="9144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dirty="0">
                <a:solidFill>
                  <a:srgbClr val="000000"/>
                </a:solidFill>
              </a:rPr>
              <a:t>💼</a:t>
            </a:r>
            <a:endParaRPr lang="en-US" sz="3600" dirty="0"/>
          </a:p>
        </p:txBody>
      </p:sp>
      <p:sp>
        <p:nvSpPr>
          <p:cNvPr id="9" name="Text 7"/>
          <p:cNvSpPr/>
          <p:nvPr/>
        </p:nvSpPr>
        <p:spPr>
          <a:xfrm>
            <a:off x="1554480" y="420624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Schedule Demo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554480" y="4617720"/>
            <a:ext cx="2468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7F86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ทดลองใช้ระบบจริงก่อนตัดสินใจ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297680" y="4023360"/>
            <a:ext cx="3657600" cy="1463040"/>
          </a:xfrm>
          <a:prstGeom prst="rect">
            <a:avLst/>
          </a:prstGeom>
          <a:solidFill>
            <a:srgbClr val="131826"/>
          </a:solidFill>
          <a:ln w="12700">
            <a:solidFill>
              <a:srgbClr val="232B3D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297680" y="4023360"/>
            <a:ext cx="45720" cy="1463040"/>
          </a:xfrm>
          <a:prstGeom prst="rect">
            <a:avLst/>
          </a:prstGeom>
          <a:solidFill>
            <a:srgbClr val="5B8DEF"/>
          </a:solidFill>
          <a:ln/>
        </p:spPr>
      </p:sp>
      <p:sp>
        <p:nvSpPr>
          <p:cNvPr id="13" name="Text 11"/>
          <p:cNvSpPr/>
          <p:nvPr/>
        </p:nvSpPr>
        <p:spPr>
          <a:xfrm>
            <a:off x="4434840" y="4160520"/>
            <a:ext cx="9144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dirty="0">
                <a:solidFill>
                  <a:srgbClr val="000000"/>
                </a:solidFill>
              </a:rPr>
              <a:t>📋</a:t>
            </a:r>
            <a:endParaRPr lang="en-US" sz="3600" dirty="0"/>
          </a:p>
        </p:txBody>
      </p:sp>
      <p:sp>
        <p:nvSpPr>
          <p:cNvPr id="14" name="Text 12"/>
          <p:cNvSpPr/>
          <p:nvPr/>
        </p:nvSpPr>
        <p:spPr>
          <a:xfrm>
            <a:off x="5394960" y="420624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Free Consultation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5394960" y="4617720"/>
            <a:ext cx="2468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7F86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วิเคราะห์ความต้องการและออกแบบเฉพาะคุณ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8138160" y="4023360"/>
            <a:ext cx="3657600" cy="1463040"/>
          </a:xfrm>
          <a:prstGeom prst="rect">
            <a:avLst/>
          </a:prstGeom>
          <a:solidFill>
            <a:srgbClr val="131826"/>
          </a:solidFill>
          <a:ln w="12700">
            <a:solidFill>
              <a:srgbClr val="232B3D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138160" y="4023360"/>
            <a:ext cx="45720" cy="1463040"/>
          </a:xfrm>
          <a:prstGeom prst="rect">
            <a:avLst/>
          </a:prstGeom>
          <a:solidFill>
            <a:srgbClr val="5B8DEF"/>
          </a:solidFill>
          <a:ln/>
        </p:spPr>
      </p:sp>
      <p:sp>
        <p:nvSpPr>
          <p:cNvPr id="18" name="Text 16"/>
          <p:cNvSpPr/>
          <p:nvPr/>
        </p:nvSpPr>
        <p:spPr>
          <a:xfrm>
            <a:off x="8275320" y="4160520"/>
            <a:ext cx="9144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dirty="0">
                <a:solidFill>
                  <a:srgbClr val="000000"/>
                </a:solidFill>
              </a:rPr>
              <a:t>🚀</a:t>
            </a:r>
            <a:endParaRPr lang="en-US" sz="3600" dirty="0"/>
          </a:p>
        </p:txBody>
      </p:sp>
      <p:sp>
        <p:nvSpPr>
          <p:cNvPr id="19" name="Text 17"/>
          <p:cNvSpPr/>
          <p:nvPr/>
        </p:nvSpPr>
        <p:spPr>
          <a:xfrm>
            <a:off x="9235440" y="420624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Pilot Project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9235440" y="4617720"/>
            <a:ext cx="2468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7F86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เริ่มจาก 10-50 กล้อง พร้อม proof of concept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57200" y="5760720"/>
            <a:ext cx="11247120" cy="594360"/>
          </a:xfrm>
          <a:prstGeom prst="rect">
            <a:avLst/>
          </a:prstGeom>
          <a:solidFill>
            <a:srgbClr val="131826"/>
          </a:solidFill>
          <a:ln w="12700">
            <a:solidFill>
              <a:srgbClr val="5B8DE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57200" y="5760720"/>
            <a:ext cx="11247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200" kern="0" dirty="0">
                <a:solidFill>
                  <a:srgbClr val="7F86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Contact   </a:t>
            </a:r>
            <a:pPr algn="ctr" indent="0" marL="0">
              <a:buNone/>
            </a:pPr>
            <a:r>
              <a:rPr lang="en-US" sz="1200" dirty="0">
                <a:solidFill>
                  <a:srgbClr val="232B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│ </a:t>
            </a:r>
            <a:pPr algn="ctr" indent="0" marL="0">
              <a:buNone/>
            </a:pPr>
            <a:r>
              <a:rPr lang="en-US" sz="1100" dirty="0">
                <a:solidFill>
                  <a:srgbClr val="E4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📧 contact@vision-office.co  </a:t>
            </a:r>
            <a:pPr algn="ctr" indent="0" marL="0">
              <a:buNone/>
            </a:pPr>
            <a:r>
              <a:rPr lang="en-US" sz="1200" dirty="0">
                <a:solidFill>
                  <a:srgbClr val="232B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│ </a:t>
            </a:r>
            <a:pPr algn="ctr" indent="0" marL="0">
              <a:buNone/>
            </a:pPr>
            <a:r>
              <a:rPr lang="en-US" sz="1100" dirty="0">
                <a:solidFill>
                  <a:srgbClr val="E4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🌐 vision-office.co  </a:t>
            </a:r>
            <a:pPr algn="ctr" indent="0" marL="0">
              <a:buNone/>
            </a:pPr>
            <a:r>
              <a:rPr lang="en-US" sz="1200" dirty="0">
                <a:solidFill>
                  <a:srgbClr val="232B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│ </a:t>
            </a:r>
            <a:pPr algn="ctr" indent="0" marL="0">
              <a:buNone/>
            </a:pPr>
            <a:r>
              <a:rPr lang="en-US" sz="1100" dirty="0">
                <a:solidFill>
                  <a:srgbClr val="E4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📱 +66 XX-XXX-XXXX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457200" y="644652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4A52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Thank you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Bosch Security Systems Partner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Bosch CCTV MQTT Dashboard Solution</dc:title>
  <dc:subject>PptxGenJS Presentation</dc:subject>
  <dc:creator>VISION Office</dc:creator>
  <cp:lastModifiedBy>VISION Office</cp:lastModifiedBy>
  <cp:revision>1</cp:revision>
  <dcterms:created xsi:type="dcterms:W3CDTF">2026-05-01T08:07:36Z</dcterms:created>
  <dcterms:modified xsi:type="dcterms:W3CDTF">2026-05-01T08:07:36Z</dcterms:modified>
</cp:coreProperties>
</file>